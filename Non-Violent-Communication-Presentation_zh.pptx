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3" r:id="rId1"/>
  </p:sldMasterIdLst>
  <p:notesMasterIdLst>
    <p:notesMasterId r:id="rId52"/>
  </p:notesMasterIdLst>
  <p:sldIdLst>
    <p:sldId id="309" r:id="rId2"/>
    <p:sldId id="310" r:id="rId3"/>
    <p:sldId id="311" r:id="rId4"/>
    <p:sldId id="259" r:id="rId5"/>
    <p:sldId id="260" r:id="rId6"/>
    <p:sldId id="291" r:id="rId7"/>
    <p:sldId id="261" r:id="rId8"/>
    <p:sldId id="257" r:id="rId9"/>
    <p:sldId id="292" r:id="rId10"/>
    <p:sldId id="263" r:id="rId11"/>
    <p:sldId id="264" r:id="rId12"/>
    <p:sldId id="293" r:id="rId13"/>
    <p:sldId id="265" r:id="rId14"/>
    <p:sldId id="294" r:id="rId15"/>
    <p:sldId id="266" r:id="rId16"/>
    <p:sldId id="295" r:id="rId17"/>
    <p:sldId id="267" r:id="rId18"/>
    <p:sldId id="296" r:id="rId19"/>
    <p:sldId id="269" r:id="rId20"/>
    <p:sldId id="268" r:id="rId21"/>
    <p:sldId id="270" r:id="rId22"/>
    <p:sldId id="297" r:id="rId23"/>
    <p:sldId id="271" r:id="rId24"/>
    <p:sldId id="272" r:id="rId25"/>
    <p:sldId id="273" r:id="rId26"/>
    <p:sldId id="274" r:id="rId27"/>
    <p:sldId id="275" r:id="rId28"/>
    <p:sldId id="298" r:id="rId29"/>
    <p:sldId id="276" r:id="rId30"/>
    <p:sldId id="277" r:id="rId31"/>
    <p:sldId id="278" r:id="rId32"/>
    <p:sldId id="299" r:id="rId33"/>
    <p:sldId id="282" r:id="rId34"/>
    <p:sldId id="280" r:id="rId35"/>
    <p:sldId id="281" r:id="rId36"/>
    <p:sldId id="300" r:id="rId37"/>
    <p:sldId id="283" r:id="rId38"/>
    <p:sldId id="284" r:id="rId39"/>
    <p:sldId id="301" r:id="rId40"/>
    <p:sldId id="285" r:id="rId41"/>
    <p:sldId id="302" r:id="rId42"/>
    <p:sldId id="286" r:id="rId43"/>
    <p:sldId id="303" r:id="rId44"/>
    <p:sldId id="304" r:id="rId45"/>
    <p:sldId id="305" r:id="rId46"/>
    <p:sldId id="306" r:id="rId47"/>
    <p:sldId id="307" r:id="rId48"/>
    <p:sldId id="287" r:id="rId49"/>
    <p:sldId id="308" r:id="rId50"/>
    <p:sldId id="290" r:id="rId5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3399"/>
    <a:srgbClr val="00FF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16" autoAdjust="0"/>
    <p:restoredTop sz="94660"/>
  </p:normalViewPr>
  <p:slideViewPr>
    <p:cSldViewPr>
      <p:cViewPr varScale="1">
        <p:scale>
          <a:sx n="60" d="100"/>
          <a:sy n="60" d="100"/>
        </p:scale>
        <p:origin x="167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1554" name="Rectangle 2">
            <a:extLst>
              <a:ext uri="{FF2B5EF4-FFF2-40B4-BE49-F238E27FC236}">
                <a16:creationId xmlns:a16="http://schemas.microsoft.com/office/drawing/2014/main" id="{5D9CDEC5-9F39-F672-5310-B348ECA225E8}"/>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 charset="0"/>
                <a:ea typeface="+mn-ea"/>
              </a:defRPr>
            </a:lvl1pPr>
          </a:lstStyle>
          <a:p>
            <a:pPr>
              <a:defRPr/>
            </a:pPr>
            <a:endParaRPr lang="en-US"/>
          </a:p>
        </p:txBody>
      </p:sp>
      <p:sp>
        <p:nvSpPr>
          <p:cNvPr id="151555" name="Rectangle 3">
            <a:extLst>
              <a:ext uri="{FF2B5EF4-FFF2-40B4-BE49-F238E27FC236}">
                <a16:creationId xmlns:a16="http://schemas.microsoft.com/office/drawing/2014/main" id="{38E76372-9869-D84F-0436-B223301FD7BB}"/>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 charset="0"/>
                <a:ea typeface="+mn-ea"/>
              </a:defRPr>
            </a:lvl1pPr>
          </a:lstStyle>
          <a:p>
            <a:pPr>
              <a:defRPr/>
            </a:pPr>
            <a:endParaRPr lang="en-US"/>
          </a:p>
        </p:txBody>
      </p:sp>
      <p:sp>
        <p:nvSpPr>
          <p:cNvPr id="3076" name="Rectangle 4">
            <a:extLst>
              <a:ext uri="{FF2B5EF4-FFF2-40B4-BE49-F238E27FC236}">
                <a16:creationId xmlns:a16="http://schemas.microsoft.com/office/drawing/2014/main" id="{3E823D82-0A06-01BA-DBB0-C9AC3C996915}"/>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1557" name="Rectangle 5">
            <a:extLst>
              <a:ext uri="{FF2B5EF4-FFF2-40B4-BE49-F238E27FC236}">
                <a16:creationId xmlns:a16="http://schemas.microsoft.com/office/drawing/2014/main" id="{BAFCCF6F-3946-C132-8DF4-FD58BEC861E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1558" name="Rectangle 6">
            <a:extLst>
              <a:ext uri="{FF2B5EF4-FFF2-40B4-BE49-F238E27FC236}">
                <a16:creationId xmlns:a16="http://schemas.microsoft.com/office/drawing/2014/main" id="{F698DF0A-B44D-DF8E-95B8-DC33D898CA5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 charset="0"/>
                <a:ea typeface="+mn-ea"/>
              </a:defRPr>
            </a:lvl1pPr>
          </a:lstStyle>
          <a:p>
            <a:pPr>
              <a:defRPr/>
            </a:pPr>
            <a:endParaRPr lang="en-US"/>
          </a:p>
        </p:txBody>
      </p:sp>
      <p:sp>
        <p:nvSpPr>
          <p:cNvPr id="151559" name="Rectangle 7">
            <a:extLst>
              <a:ext uri="{FF2B5EF4-FFF2-40B4-BE49-F238E27FC236}">
                <a16:creationId xmlns:a16="http://schemas.microsoft.com/office/drawing/2014/main" id="{5C004143-9992-3E2D-DC1F-4020710D67C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pPr>
              <a:defRPr/>
            </a:pPr>
            <a:fld id="{EB56D6FA-666F-4700-A857-43EF573A758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1" charset="0"/>
        <a:ea typeface="ＭＳ Ｐゴシック"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C64368B-2C41-80F9-48C9-6D5C8C1EA436}"/>
              </a:ext>
            </a:extLst>
          </p:cNvPr>
          <p:cNvGrpSpPr>
            <a:grpSpLocks/>
          </p:cNvGrpSpPr>
          <p:nvPr/>
        </p:nvGrpSpPr>
        <p:grpSpPr bwMode="auto">
          <a:xfrm>
            <a:off x="-3222625" y="304800"/>
            <a:ext cx="11909425" cy="4724400"/>
            <a:chOff x="-2030" y="192"/>
            <a:chExt cx="7502" cy="2976"/>
          </a:xfrm>
        </p:grpSpPr>
        <p:sp>
          <p:nvSpPr>
            <p:cNvPr id="3" name="Line 3">
              <a:extLst>
                <a:ext uri="{FF2B5EF4-FFF2-40B4-BE49-F238E27FC236}">
                  <a16:creationId xmlns:a16="http://schemas.microsoft.com/office/drawing/2014/main" id="{A07393FE-3242-58A4-224D-F7770050CA82}"/>
                </a:ext>
              </a:extLst>
            </p:cNvPr>
            <p:cNvSpPr>
              <a:spLocks noChangeShapeType="1"/>
            </p:cNvSpPr>
            <p:nvPr/>
          </p:nvSpPr>
          <p:spPr bwMode="auto">
            <a:xfrm>
              <a:off x="912" y="1584"/>
              <a:ext cx="45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AutoShape 4">
              <a:extLst>
                <a:ext uri="{FF2B5EF4-FFF2-40B4-BE49-F238E27FC236}">
                  <a16:creationId xmlns:a16="http://schemas.microsoft.com/office/drawing/2014/main" id="{AA92E6F2-C418-C8AC-6065-002D78EF5A13}"/>
                </a:ext>
              </a:extLst>
            </p:cNvPr>
            <p:cNvSpPr>
              <a:spLocks noChangeArrowheads="1"/>
            </p:cNvSpPr>
            <p:nvPr/>
          </p:nvSpPr>
          <p:spPr bwMode="auto">
            <a:xfrm>
              <a:off x="-1584" y="864"/>
              <a:ext cx="2304" cy="2304"/>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 name="AutoShape 5">
              <a:extLst>
                <a:ext uri="{FF2B5EF4-FFF2-40B4-BE49-F238E27FC236}">
                  <a16:creationId xmlns:a16="http://schemas.microsoft.com/office/drawing/2014/main" id="{050B3F5D-0F13-1E45-F8E6-5F1DD4A6B153}"/>
                </a:ext>
              </a:extLst>
            </p:cNvPr>
            <p:cNvSpPr>
              <a:spLocks noChangeArrowheads="1"/>
            </p:cNvSpPr>
            <p:nvPr/>
          </p:nvSpPr>
          <p:spPr bwMode="auto">
            <a:xfrm>
              <a:off x="-2030" y="192"/>
              <a:ext cx="2544" cy="2544"/>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149510" name="Rectangle 6"/>
          <p:cNvSpPr>
            <a:spLocks noGrp="1" noChangeArrowheads="1"/>
          </p:cNvSpPr>
          <p:nvPr>
            <p:ph type="ctrTitle"/>
          </p:nvPr>
        </p:nvSpPr>
        <p:spPr>
          <a:xfrm>
            <a:off x="1443038" y="985838"/>
            <a:ext cx="7239000" cy="1444625"/>
          </a:xfrm>
        </p:spPr>
        <p:txBody>
          <a:bodyPr/>
          <a:lstStyle>
            <a:lvl1pPr>
              <a:defRPr sz="4000"/>
            </a:lvl1pPr>
          </a:lstStyle>
          <a:p>
            <a:r>
              <a:rPr lang="en-US"/>
              <a:t>Click to edit Master title style</a:t>
            </a:r>
          </a:p>
        </p:txBody>
      </p:sp>
      <p:sp>
        <p:nvSpPr>
          <p:cNvPr id="149511" name="Rectangle 7"/>
          <p:cNvSpPr>
            <a:spLocks noGrp="1" noChangeArrowheads="1"/>
          </p:cNvSpPr>
          <p:nvPr>
            <p:ph type="subTitle" idx="1"/>
          </p:nvPr>
        </p:nvSpPr>
        <p:spPr>
          <a:xfrm>
            <a:off x="1443038" y="3427413"/>
            <a:ext cx="7239000" cy="1752600"/>
          </a:xfrm>
        </p:spPr>
        <p:txBody>
          <a:bodyPr/>
          <a:lstStyle>
            <a:lvl1pPr marL="0" indent="0">
              <a:buFont typeface="Wingdings" pitchFamily="1" charset="2"/>
              <a:buNone/>
              <a:defRPr/>
            </a:lvl1pPr>
          </a:lstStyle>
          <a:p>
            <a:r>
              <a:rPr lang="en-US"/>
              <a:t>Click to edit Master subtitle style</a:t>
            </a:r>
          </a:p>
        </p:txBody>
      </p:sp>
      <p:sp>
        <p:nvSpPr>
          <p:cNvPr id="6" name="Rectangle 8">
            <a:extLst>
              <a:ext uri="{FF2B5EF4-FFF2-40B4-BE49-F238E27FC236}">
                <a16:creationId xmlns:a16="http://schemas.microsoft.com/office/drawing/2014/main" id="{8D5DDAEB-9866-1D20-3050-BC3796A99F29}"/>
              </a:ext>
            </a:extLst>
          </p:cNvPr>
          <p:cNvSpPr>
            <a:spLocks noGrp="1" noChangeArrowheads="1"/>
          </p:cNvSpPr>
          <p:nvPr>
            <p:ph type="dt" sz="half" idx="10"/>
          </p:nvPr>
        </p:nvSpPr>
        <p:spPr/>
        <p:txBody>
          <a:bodyPr/>
          <a:lstStyle>
            <a:lvl1pPr>
              <a:defRPr/>
            </a:lvl1pPr>
          </a:lstStyle>
          <a:p>
            <a:pPr>
              <a:defRPr/>
            </a:pPr>
            <a:endParaRPr lang="en-US"/>
          </a:p>
        </p:txBody>
      </p:sp>
      <p:sp>
        <p:nvSpPr>
          <p:cNvPr id="7" name="Rectangle 9">
            <a:extLst>
              <a:ext uri="{FF2B5EF4-FFF2-40B4-BE49-F238E27FC236}">
                <a16:creationId xmlns:a16="http://schemas.microsoft.com/office/drawing/2014/main" id="{6C29734E-B7BA-FCAA-BD3A-4F7A39015DDD}"/>
              </a:ext>
            </a:extLst>
          </p:cNvPr>
          <p:cNvSpPr>
            <a:spLocks noGrp="1" noChangeArrowheads="1"/>
          </p:cNvSpPr>
          <p:nvPr>
            <p:ph type="ftr" sz="quarter" idx="11"/>
          </p:nvPr>
        </p:nvSpPr>
        <p:spPr/>
        <p:txBody>
          <a:bodyPr/>
          <a:lstStyle>
            <a:lvl1pPr>
              <a:defRPr/>
            </a:lvl1pPr>
          </a:lstStyle>
          <a:p>
            <a:pPr>
              <a:defRPr/>
            </a:pPr>
            <a:endParaRPr lang="en-US"/>
          </a:p>
        </p:txBody>
      </p:sp>
      <p:sp>
        <p:nvSpPr>
          <p:cNvPr id="8" name="Rectangle 10">
            <a:extLst>
              <a:ext uri="{FF2B5EF4-FFF2-40B4-BE49-F238E27FC236}">
                <a16:creationId xmlns:a16="http://schemas.microsoft.com/office/drawing/2014/main" id="{7FFE857D-F362-2532-D45D-A45825D715C3}"/>
              </a:ext>
            </a:extLst>
          </p:cNvPr>
          <p:cNvSpPr>
            <a:spLocks noGrp="1" noChangeArrowheads="1"/>
          </p:cNvSpPr>
          <p:nvPr>
            <p:ph type="sldNum" sz="quarter" idx="12"/>
          </p:nvPr>
        </p:nvSpPr>
        <p:spPr/>
        <p:txBody>
          <a:bodyPr/>
          <a:lstStyle>
            <a:lvl1pPr>
              <a:defRPr/>
            </a:lvl1pPr>
          </a:lstStyle>
          <a:p>
            <a:pPr>
              <a:defRPr/>
            </a:pPr>
            <a:fld id="{C2171FFE-DCCF-4E6D-A35E-0C1729BA35FA}" type="slidenum">
              <a:rPr lang="en-US" altLang="en-US"/>
              <a:pPr>
                <a:defRPr/>
              </a:pPr>
              <a:t>‹#›</a:t>
            </a:fld>
            <a:endParaRPr lang="en-US" altLang="en-US"/>
          </a:p>
        </p:txBody>
      </p:sp>
    </p:spTree>
    <p:extLst>
      <p:ext uri="{BB962C8B-B14F-4D97-AF65-F5344CB8AC3E}">
        <p14:creationId xmlns:p14="http://schemas.microsoft.com/office/powerpoint/2010/main" val="3743277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2D55E31C-70F3-DB8F-4A1E-646B86B8089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AE5E7962-E198-B1EE-E1DA-7CE40EE9A7B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67900BF9-5965-FCF2-1A2A-50D3718080BE}"/>
              </a:ext>
            </a:extLst>
          </p:cNvPr>
          <p:cNvSpPr>
            <a:spLocks noGrp="1" noChangeArrowheads="1"/>
          </p:cNvSpPr>
          <p:nvPr>
            <p:ph type="sldNum" sz="quarter" idx="12"/>
          </p:nvPr>
        </p:nvSpPr>
        <p:spPr>
          <a:ln/>
        </p:spPr>
        <p:txBody>
          <a:bodyPr/>
          <a:lstStyle>
            <a:lvl1pPr>
              <a:defRPr/>
            </a:lvl1pPr>
          </a:lstStyle>
          <a:p>
            <a:pPr>
              <a:defRPr/>
            </a:pPr>
            <a:fld id="{A277B42D-2D89-4282-8F19-AD06EF1D79B7}" type="slidenum">
              <a:rPr lang="en-US" altLang="en-US"/>
              <a:pPr>
                <a:defRPr/>
              </a:pPr>
              <a:t>‹#›</a:t>
            </a:fld>
            <a:endParaRPr lang="en-US" altLang="en-US"/>
          </a:p>
        </p:txBody>
      </p:sp>
    </p:spTree>
    <p:extLst>
      <p:ext uri="{BB962C8B-B14F-4D97-AF65-F5344CB8AC3E}">
        <p14:creationId xmlns:p14="http://schemas.microsoft.com/office/powerpoint/2010/main" val="2482886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4C156DCD-6700-1529-B1E4-B4DF23677C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39F868D7-974C-FC96-0C61-D06567D15B1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65AC71C8-0425-9852-9A1E-FD3D234CA7A8}"/>
              </a:ext>
            </a:extLst>
          </p:cNvPr>
          <p:cNvSpPr>
            <a:spLocks noGrp="1" noChangeArrowheads="1"/>
          </p:cNvSpPr>
          <p:nvPr>
            <p:ph type="sldNum" sz="quarter" idx="12"/>
          </p:nvPr>
        </p:nvSpPr>
        <p:spPr>
          <a:ln/>
        </p:spPr>
        <p:txBody>
          <a:bodyPr/>
          <a:lstStyle>
            <a:lvl1pPr>
              <a:defRPr/>
            </a:lvl1pPr>
          </a:lstStyle>
          <a:p>
            <a:pPr>
              <a:defRPr/>
            </a:pPr>
            <a:fld id="{837123E2-5145-4A0C-AB63-F70C3889B62B}" type="slidenum">
              <a:rPr lang="en-US" altLang="en-US"/>
              <a:pPr>
                <a:defRPr/>
              </a:pPr>
              <a:t>‹#›</a:t>
            </a:fld>
            <a:endParaRPr lang="en-US" altLang="en-US"/>
          </a:p>
        </p:txBody>
      </p:sp>
    </p:spTree>
    <p:extLst>
      <p:ext uri="{BB962C8B-B14F-4D97-AF65-F5344CB8AC3E}">
        <p14:creationId xmlns:p14="http://schemas.microsoft.com/office/powerpoint/2010/main" val="1575446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88E298FF-1972-6CA3-D042-A00A02C03DE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A7C1830C-93DC-ABF5-EB28-E35D9121362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DF3C58B7-53E5-C446-142B-96DB4262574B}"/>
              </a:ext>
            </a:extLst>
          </p:cNvPr>
          <p:cNvSpPr>
            <a:spLocks noGrp="1" noChangeArrowheads="1"/>
          </p:cNvSpPr>
          <p:nvPr>
            <p:ph type="sldNum" sz="quarter" idx="12"/>
          </p:nvPr>
        </p:nvSpPr>
        <p:spPr>
          <a:ln/>
        </p:spPr>
        <p:txBody>
          <a:bodyPr/>
          <a:lstStyle>
            <a:lvl1pPr>
              <a:defRPr/>
            </a:lvl1pPr>
          </a:lstStyle>
          <a:p>
            <a:pPr>
              <a:defRPr/>
            </a:pPr>
            <a:fld id="{DF71163C-C640-4D21-86BE-1C5EE5D892D1}" type="slidenum">
              <a:rPr lang="en-US" altLang="en-US"/>
              <a:pPr>
                <a:defRPr/>
              </a:pPr>
              <a:t>‹#›</a:t>
            </a:fld>
            <a:endParaRPr lang="en-US" altLang="en-US"/>
          </a:p>
        </p:txBody>
      </p:sp>
    </p:spTree>
    <p:extLst>
      <p:ext uri="{BB962C8B-B14F-4D97-AF65-F5344CB8AC3E}">
        <p14:creationId xmlns:p14="http://schemas.microsoft.com/office/powerpoint/2010/main" val="1077073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3A953772-B68D-7E9D-41F2-EB6BE3DEA14F}"/>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9">
            <a:extLst>
              <a:ext uri="{FF2B5EF4-FFF2-40B4-BE49-F238E27FC236}">
                <a16:creationId xmlns:a16="http://schemas.microsoft.com/office/drawing/2014/main" id="{0B8F3951-9CE6-BD80-9BE2-B9C394A78D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0">
            <a:extLst>
              <a:ext uri="{FF2B5EF4-FFF2-40B4-BE49-F238E27FC236}">
                <a16:creationId xmlns:a16="http://schemas.microsoft.com/office/drawing/2014/main" id="{F8CEF4FA-9B38-9F87-0E9F-BAB19ABB4024}"/>
              </a:ext>
            </a:extLst>
          </p:cNvPr>
          <p:cNvSpPr>
            <a:spLocks noGrp="1" noChangeArrowheads="1"/>
          </p:cNvSpPr>
          <p:nvPr>
            <p:ph type="sldNum" sz="quarter" idx="12"/>
          </p:nvPr>
        </p:nvSpPr>
        <p:spPr>
          <a:ln/>
        </p:spPr>
        <p:txBody>
          <a:bodyPr/>
          <a:lstStyle>
            <a:lvl1pPr>
              <a:defRPr/>
            </a:lvl1pPr>
          </a:lstStyle>
          <a:p>
            <a:pPr>
              <a:defRPr/>
            </a:pPr>
            <a:fld id="{83110394-27B0-4C52-961F-13C2CC6C567A}" type="slidenum">
              <a:rPr lang="en-US" altLang="en-US"/>
              <a:pPr>
                <a:defRPr/>
              </a:pPr>
              <a:t>‹#›</a:t>
            </a:fld>
            <a:endParaRPr lang="en-US" altLang="en-US"/>
          </a:p>
        </p:txBody>
      </p:sp>
    </p:spTree>
    <p:extLst>
      <p:ext uri="{BB962C8B-B14F-4D97-AF65-F5344CB8AC3E}">
        <p14:creationId xmlns:p14="http://schemas.microsoft.com/office/powerpoint/2010/main" val="7931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41D1F4CA-60D5-8E4F-2962-763AA245FCB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9">
            <a:extLst>
              <a:ext uri="{FF2B5EF4-FFF2-40B4-BE49-F238E27FC236}">
                <a16:creationId xmlns:a16="http://schemas.microsoft.com/office/drawing/2014/main" id="{67991879-8247-88EA-F0C9-D0A88AD1B6A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0">
            <a:extLst>
              <a:ext uri="{FF2B5EF4-FFF2-40B4-BE49-F238E27FC236}">
                <a16:creationId xmlns:a16="http://schemas.microsoft.com/office/drawing/2014/main" id="{A9F29C92-ED7C-BA5A-1ED6-13D7E73887C6}"/>
              </a:ext>
            </a:extLst>
          </p:cNvPr>
          <p:cNvSpPr>
            <a:spLocks noGrp="1" noChangeArrowheads="1"/>
          </p:cNvSpPr>
          <p:nvPr>
            <p:ph type="sldNum" sz="quarter" idx="12"/>
          </p:nvPr>
        </p:nvSpPr>
        <p:spPr>
          <a:ln/>
        </p:spPr>
        <p:txBody>
          <a:bodyPr/>
          <a:lstStyle>
            <a:lvl1pPr>
              <a:defRPr/>
            </a:lvl1pPr>
          </a:lstStyle>
          <a:p>
            <a:pPr>
              <a:defRPr/>
            </a:pPr>
            <a:fld id="{BDF7D7B6-B93D-470A-BEFC-03F0663CB636}" type="slidenum">
              <a:rPr lang="en-US" altLang="en-US"/>
              <a:pPr>
                <a:defRPr/>
              </a:pPr>
              <a:t>‹#›</a:t>
            </a:fld>
            <a:endParaRPr lang="en-US" altLang="en-US"/>
          </a:p>
        </p:txBody>
      </p:sp>
    </p:spTree>
    <p:extLst>
      <p:ext uri="{BB962C8B-B14F-4D97-AF65-F5344CB8AC3E}">
        <p14:creationId xmlns:p14="http://schemas.microsoft.com/office/powerpoint/2010/main" val="1315805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81EFF997-A975-59BF-C9D7-90B239E89E1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9">
            <a:extLst>
              <a:ext uri="{FF2B5EF4-FFF2-40B4-BE49-F238E27FC236}">
                <a16:creationId xmlns:a16="http://schemas.microsoft.com/office/drawing/2014/main" id="{33AB0F61-83DB-AA10-865F-753F39D9341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0">
            <a:extLst>
              <a:ext uri="{FF2B5EF4-FFF2-40B4-BE49-F238E27FC236}">
                <a16:creationId xmlns:a16="http://schemas.microsoft.com/office/drawing/2014/main" id="{2C0DAC9F-E784-2E81-8DDC-F38AD5D5BBEE}"/>
              </a:ext>
            </a:extLst>
          </p:cNvPr>
          <p:cNvSpPr>
            <a:spLocks noGrp="1" noChangeArrowheads="1"/>
          </p:cNvSpPr>
          <p:nvPr>
            <p:ph type="sldNum" sz="quarter" idx="12"/>
          </p:nvPr>
        </p:nvSpPr>
        <p:spPr>
          <a:ln/>
        </p:spPr>
        <p:txBody>
          <a:bodyPr/>
          <a:lstStyle>
            <a:lvl1pPr>
              <a:defRPr/>
            </a:lvl1pPr>
          </a:lstStyle>
          <a:p>
            <a:pPr>
              <a:defRPr/>
            </a:pPr>
            <a:fld id="{51005157-C0E8-44A2-A849-671D78CCD171}" type="slidenum">
              <a:rPr lang="en-US" altLang="en-US"/>
              <a:pPr>
                <a:defRPr/>
              </a:pPr>
              <a:t>‹#›</a:t>
            </a:fld>
            <a:endParaRPr lang="en-US" altLang="en-US"/>
          </a:p>
        </p:txBody>
      </p:sp>
    </p:spTree>
    <p:extLst>
      <p:ext uri="{BB962C8B-B14F-4D97-AF65-F5344CB8AC3E}">
        <p14:creationId xmlns:p14="http://schemas.microsoft.com/office/powerpoint/2010/main" val="1005406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A50573F2-A77D-5B54-053B-135FC3DDD90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3628403E-EC07-A475-1F18-0F58C69EDC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071CB622-BB9F-579C-ED18-BC75BB075DE5}"/>
              </a:ext>
            </a:extLst>
          </p:cNvPr>
          <p:cNvSpPr>
            <a:spLocks noGrp="1" noChangeArrowheads="1"/>
          </p:cNvSpPr>
          <p:nvPr>
            <p:ph type="sldNum" sz="quarter" idx="12"/>
          </p:nvPr>
        </p:nvSpPr>
        <p:spPr>
          <a:ln/>
        </p:spPr>
        <p:txBody>
          <a:bodyPr/>
          <a:lstStyle>
            <a:lvl1pPr>
              <a:defRPr/>
            </a:lvl1pPr>
          </a:lstStyle>
          <a:p>
            <a:pPr>
              <a:defRPr/>
            </a:pPr>
            <a:fld id="{D0FDBF1E-E12E-4F51-9DA2-DBA27FA6FB58}" type="slidenum">
              <a:rPr lang="en-US" altLang="en-US"/>
              <a:pPr>
                <a:defRPr/>
              </a:pPr>
              <a:t>‹#›</a:t>
            </a:fld>
            <a:endParaRPr lang="en-US" altLang="en-US"/>
          </a:p>
        </p:txBody>
      </p:sp>
    </p:spTree>
    <p:extLst>
      <p:ext uri="{BB962C8B-B14F-4D97-AF65-F5344CB8AC3E}">
        <p14:creationId xmlns:p14="http://schemas.microsoft.com/office/powerpoint/2010/main" val="3891434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5F7ADC42-FE22-9721-7ED2-54BB71CEFEF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9">
            <a:extLst>
              <a:ext uri="{FF2B5EF4-FFF2-40B4-BE49-F238E27FC236}">
                <a16:creationId xmlns:a16="http://schemas.microsoft.com/office/drawing/2014/main" id="{B6FD9F93-CF16-01DD-B660-36268F7433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0">
            <a:extLst>
              <a:ext uri="{FF2B5EF4-FFF2-40B4-BE49-F238E27FC236}">
                <a16:creationId xmlns:a16="http://schemas.microsoft.com/office/drawing/2014/main" id="{036FEFC0-73CD-FC05-8BBE-62D796702121}"/>
              </a:ext>
            </a:extLst>
          </p:cNvPr>
          <p:cNvSpPr>
            <a:spLocks noGrp="1" noChangeArrowheads="1"/>
          </p:cNvSpPr>
          <p:nvPr>
            <p:ph type="sldNum" sz="quarter" idx="12"/>
          </p:nvPr>
        </p:nvSpPr>
        <p:spPr>
          <a:ln/>
        </p:spPr>
        <p:txBody>
          <a:bodyPr/>
          <a:lstStyle>
            <a:lvl1pPr>
              <a:defRPr/>
            </a:lvl1pPr>
          </a:lstStyle>
          <a:p>
            <a:pPr>
              <a:defRPr/>
            </a:pPr>
            <a:fld id="{4F445D6B-94CC-4527-8053-2C4376A894F6}" type="slidenum">
              <a:rPr lang="en-US" altLang="en-US"/>
              <a:pPr>
                <a:defRPr/>
              </a:pPr>
              <a:t>‹#›</a:t>
            </a:fld>
            <a:endParaRPr lang="en-US" altLang="en-US"/>
          </a:p>
        </p:txBody>
      </p:sp>
    </p:spTree>
    <p:extLst>
      <p:ext uri="{BB962C8B-B14F-4D97-AF65-F5344CB8AC3E}">
        <p14:creationId xmlns:p14="http://schemas.microsoft.com/office/powerpoint/2010/main" val="2792562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1E80D941-9F96-8439-0FC4-6B673C791DD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29E198D2-D849-D5C6-1568-11ABF4FEC43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1C4D67E2-100C-013F-F8F7-47FE37BD9DBD}"/>
              </a:ext>
            </a:extLst>
          </p:cNvPr>
          <p:cNvSpPr>
            <a:spLocks noGrp="1" noChangeArrowheads="1"/>
          </p:cNvSpPr>
          <p:nvPr>
            <p:ph type="sldNum" sz="quarter" idx="12"/>
          </p:nvPr>
        </p:nvSpPr>
        <p:spPr>
          <a:ln/>
        </p:spPr>
        <p:txBody>
          <a:bodyPr/>
          <a:lstStyle>
            <a:lvl1pPr>
              <a:defRPr/>
            </a:lvl1pPr>
          </a:lstStyle>
          <a:p>
            <a:pPr>
              <a:defRPr/>
            </a:pPr>
            <a:fld id="{64E0EA3B-DC97-4C3E-80CD-429F198CD2CE}" type="slidenum">
              <a:rPr lang="en-US" altLang="en-US"/>
              <a:pPr>
                <a:defRPr/>
              </a:pPr>
              <a:t>‹#›</a:t>
            </a:fld>
            <a:endParaRPr lang="en-US" altLang="en-US"/>
          </a:p>
        </p:txBody>
      </p:sp>
    </p:spTree>
    <p:extLst>
      <p:ext uri="{BB962C8B-B14F-4D97-AF65-F5344CB8AC3E}">
        <p14:creationId xmlns:p14="http://schemas.microsoft.com/office/powerpoint/2010/main" val="2475695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AEB3A8C8-99AE-8D95-13EF-1795F610E8D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9">
            <a:extLst>
              <a:ext uri="{FF2B5EF4-FFF2-40B4-BE49-F238E27FC236}">
                <a16:creationId xmlns:a16="http://schemas.microsoft.com/office/drawing/2014/main" id="{35FE3343-C159-9A0B-ABC9-ACEAE781D64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0">
            <a:extLst>
              <a:ext uri="{FF2B5EF4-FFF2-40B4-BE49-F238E27FC236}">
                <a16:creationId xmlns:a16="http://schemas.microsoft.com/office/drawing/2014/main" id="{60274A41-4B0E-EDE4-581F-16CC800713B5}"/>
              </a:ext>
            </a:extLst>
          </p:cNvPr>
          <p:cNvSpPr>
            <a:spLocks noGrp="1" noChangeArrowheads="1"/>
          </p:cNvSpPr>
          <p:nvPr>
            <p:ph type="sldNum" sz="quarter" idx="12"/>
          </p:nvPr>
        </p:nvSpPr>
        <p:spPr>
          <a:ln/>
        </p:spPr>
        <p:txBody>
          <a:bodyPr/>
          <a:lstStyle>
            <a:lvl1pPr>
              <a:defRPr/>
            </a:lvl1pPr>
          </a:lstStyle>
          <a:p>
            <a:pPr>
              <a:defRPr/>
            </a:pPr>
            <a:fld id="{486B10CD-7EB8-4E9C-9B47-D55D38F2E5A0}" type="slidenum">
              <a:rPr lang="en-US" altLang="en-US"/>
              <a:pPr>
                <a:defRPr/>
              </a:pPr>
              <a:t>‹#›</a:t>
            </a:fld>
            <a:endParaRPr lang="en-US" altLang="en-US"/>
          </a:p>
        </p:txBody>
      </p:sp>
    </p:spTree>
    <p:extLst>
      <p:ext uri="{BB962C8B-B14F-4D97-AF65-F5344CB8AC3E}">
        <p14:creationId xmlns:p14="http://schemas.microsoft.com/office/powerpoint/2010/main" val="18946393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38B64A70-55A1-B561-FEB8-887F21A696B0}"/>
              </a:ext>
            </a:extLst>
          </p:cNvPr>
          <p:cNvGrpSpPr>
            <a:grpSpLocks/>
          </p:cNvGrpSpPr>
          <p:nvPr/>
        </p:nvGrpSpPr>
        <p:grpSpPr bwMode="auto">
          <a:xfrm>
            <a:off x="-3238500" y="0"/>
            <a:ext cx="11925300" cy="3810000"/>
            <a:chOff x="-2040" y="0"/>
            <a:chExt cx="7512" cy="2400"/>
          </a:xfrm>
        </p:grpSpPr>
        <p:sp>
          <p:nvSpPr>
            <p:cNvPr id="1032" name="AutoShape 3">
              <a:extLst>
                <a:ext uri="{FF2B5EF4-FFF2-40B4-BE49-F238E27FC236}">
                  <a16:creationId xmlns:a16="http://schemas.microsoft.com/office/drawing/2014/main" id="{F382E052-65A4-6E3B-44BC-65C430B3E6FC}"/>
                </a:ext>
              </a:extLst>
            </p:cNvPr>
            <p:cNvSpPr>
              <a:spLocks noChangeArrowheads="1"/>
            </p:cNvSpPr>
            <p:nvPr/>
          </p:nvSpPr>
          <p:spPr bwMode="auto">
            <a:xfrm>
              <a:off x="-2040" y="432"/>
              <a:ext cx="2592" cy="1968"/>
            </a:xfrm>
            <a:custGeom>
              <a:avLst/>
              <a:gdLst>
                <a:gd name="T0" fmla="*/ 3 w 64000"/>
                <a:gd name="T1" fmla="*/ 0 h 64000"/>
                <a:gd name="T2" fmla="*/ 4 w 64000"/>
                <a:gd name="T3" fmla="*/ 1 h 64000"/>
                <a:gd name="T4" fmla="*/ 3 w 64000"/>
                <a:gd name="T5" fmla="*/ 2 h 64000"/>
                <a:gd name="T6" fmla="*/ 3 w 64000"/>
                <a:gd name="T7" fmla="*/ 2 h 64000"/>
                <a:gd name="T8" fmla="*/ 3 w 64000"/>
                <a:gd name="T9" fmla="*/ 2 h 64000"/>
                <a:gd name="T10" fmla="*/ 3 w 64000"/>
                <a:gd name="T11" fmla="*/ 2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33" name="AutoShape 4">
              <a:extLst>
                <a:ext uri="{FF2B5EF4-FFF2-40B4-BE49-F238E27FC236}">
                  <a16:creationId xmlns:a16="http://schemas.microsoft.com/office/drawing/2014/main" id="{5F4DB96E-1E7C-1A7E-87A1-116FBE67E864}"/>
                </a:ext>
              </a:extLst>
            </p:cNvPr>
            <p:cNvSpPr>
              <a:spLocks noChangeArrowheads="1"/>
            </p:cNvSpPr>
            <p:nvPr/>
          </p:nvSpPr>
          <p:spPr bwMode="auto">
            <a:xfrm>
              <a:off x="-1528" y="0"/>
              <a:ext cx="1949" cy="1987"/>
            </a:xfrm>
            <a:custGeom>
              <a:avLst/>
              <a:gdLst>
                <a:gd name="T0" fmla="*/ 1 w 64000"/>
                <a:gd name="T1" fmla="*/ 0 h 64000"/>
                <a:gd name="T2" fmla="*/ 2 w 64000"/>
                <a:gd name="T3" fmla="*/ 1 h 64000"/>
                <a:gd name="T4" fmla="*/ 1 w 64000"/>
                <a:gd name="T5" fmla="*/ 2 h 64000"/>
                <a:gd name="T6" fmla="*/ 1 w 64000"/>
                <a:gd name="T7" fmla="*/ 2 h 64000"/>
                <a:gd name="T8" fmla="*/ 1 w 64000"/>
                <a:gd name="T9" fmla="*/ 2 h 64000"/>
                <a:gd name="T10" fmla="*/ 1 w 64000"/>
                <a:gd name="T11" fmla="*/ 2 h 64000"/>
                <a:gd name="T12" fmla="*/ 1 w 64000"/>
                <a:gd name="T13" fmla="*/ 0 h 64000"/>
                <a:gd name="T14" fmla="*/ 1 w 64000"/>
                <a:gd name="T15" fmla="*/ 0 h 64000"/>
                <a:gd name="T16" fmla="*/ 1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34" name="Line 5">
              <a:extLst>
                <a:ext uri="{FF2B5EF4-FFF2-40B4-BE49-F238E27FC236}">
                  <a16:creationId xmlns:a16="http://schemas.microsoft.com/office/drawing/2014/main" id="{B2CC2EC3-1CA4-1913-9FD9-DB89CFBD1364}"/>
                </a:ext>
              </a:extLst>
            </p:cNvPr>
            <p:cNvSpPr>
              <a:spLocks noChangeShapeType="1"/>
            </p:cNvSpPr>
            <p:nvPr/>
          </p:nvSpPr>
          <p:spPr bwMode="auto">
            <a:xfrm>
              <a:off x="864" y="960"/>
              <a:ext cx="460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8486" name="Rectangle 6">
            <a:extLst>
              <a:ext uri="{FF2B5EF4-FFF2-40B4-BE49-F238E27FC236}">
                <a16:creationId xmlns:a16="http://schemas.microsoft.com/office/drawing/2014/main" id="{A6148BD7-8CED-A096-2AF3-2DC5BB33CFF4}"/>
              </a:ext>
            </a:extLst>
          </p:cNvPr>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48487" name="Rectangle 7">
            <a:extLst>
              <a:ext uri="{FF2B5EF4-FFF2-40B4-BE49-F238E27FC236}">
                <a16:creationId xmlns:a16="http://schemas.microsoft.com/office/drawing/2014/main" id="{D55D08AF-26D3-3520-716C-827904A1761F}"/>
              </a:ext>
            </a:extLst>
          </p:cNvPr>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8488" name="Rectangle 8">
            <a:extLst>
              <a:ext uri="{FF2B5EF4-FFF2-40B4-BE49-F238E27FC236}">
                <a16:creationId xmlns:a16="http://schemas.microsoft.com/office/drawing/2014/main" id="{448B081A-6042-07B0-C4B2-86261E6386D5}"/>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Verdana" pitchFamily="1" charset="0"/>
                <a:ea typeface="+mn-ea"/>
              </a:defRPr>
            </a:lvl1pPr>
          </a:lstStyle>
          <a:p>
            <a:pPr>
              <a:defRPr/>
            </a:pPr>
            <a:endParaRPr lang="en-US"/>
          </a:p>
        </p:txBody>
      </p:sp>
      <p:sp>
        <p:nvSpPr>
          <p:cNvPr id="148489" name="Rectangle 9">
            <a:extLst>
              <a:ext uri="{FF2B5EF4-FFF2-40B4-BE49-F238E27FC236}">
                <a16:creationId xmlns:a16="http://schemas.microsoft.com/office/drawing/2014/main" id="{2E0646F9-69E3-53D6-B73F-FDBB5CC935A5}"/>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Verdana" pitchFamily="1" charset="0"/>
                <a:ea typeface="+mn-ea"/>
              </a:defRPr>
            </a:lvl1pPr>
          </a:lstStyle>
          <a:p>
            <a:pPr>
              <a:defRPr/>
            </a:pPr>
            <a:endParaRPr lang="en-US"/>
          </a:p>
        </p:txBody>
      </p:sp>
      <p:sp>
        <p:nvSpPr>
          <p:cNvPr id="148490" name="Rectangle 10">
            <a:extLst>
              <a:ext uri="{FF2B5EF4-FFF2-40B4-BE49-F238E27FC236}">
                <a16:creationId xmlns:a16="http://schemas.microsoft.com/office/drawing/2014/main" id="{5898493C-B7D6-55C4-E1A6-62CBC449D8BB}"/>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7CE544CD-2AF1-4BD0-A007-563F4321678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4"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48486"/>
                                        </p:tgtEl>
                                        <p:attrNameLst>
                                          <p:attrName>style.visibility</p:attrName>
                                        </p:attrNameLst>
                                      </p:cBhvr>
                                      <p:to>
                                        <p:strVal val="visible"/>
                                      </p:to>
                                    </p:set>
                                    <p:animEffect transition="in" filter="fade">
                                      <p:cBhvr>
                                        <p:cTn id="7" dur="2000"/>
                                        <p:tgtEl>
                                          <p:spTgt spid="1484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48487">
                                            <p:txEl>
                                              <p:pRg st="0" end="0"/>
                                            </p:txEl>
                                          </p:spTgt>
                                        </p:tgtEl>
                                        <p:attrNameLst>
                                          <p:attrName>style.visibility</p:attrName>
                                        </p:attrNameLst>
                                      </p:cBhvr>
                                      <p:to>
                                        <p:strVal val="visible"/>
                                      </p:to>
                                    </p:set>
                                    <p:animEffect transition="in" filter="fade">
                                      <p:cBhvr>
                                        <p:cTn id="12" dur="2000"/>
                                        <p:tgtEl>
                                          <p:spTgt spid="148487">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8487">
                                            <p:txEl>
                                              <p:pRg st="1" end="1"/>
                                            </p:txEl>
                                          </p:spTgt>
                                        </p:tgtEl>
                                        <p:attrNameLst>
                                          <p:attrName>style.visibility</p:attrName>
                                        </p:attrNameLst>
                                      </p:cBhvr>
                                      <p:to>
                                        <p:strVal val="visible"/>
                                      </p:to>
                                    </p:set>
                                    <p:animEffect transition="in" filter="fade">
                                      <p:cBhvr>
                                        <p:cTn id="15" dur="2000"/>
                                        <p:tgtEl>
                                          <p:spTgt spid="148487">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48487">
                                            <p:txEl>
                                              <p:pRg st="2" end="2"/>
                                            </p:txEl>
                                          </p:spTgt>
                                        </p:tgtEl>
                                        <p:attrNameLst>
                                          <p:attrName>style.visibility</p:attrName>
                                        </p:attrNameLst>
                                      </p:cBhvr>
                                      <p:to>
                                        <p:strVal val="visible"/>
                                      </p:to>
                                    </p:set>
                                    <p:animEffect transition="in" filter="fade">
                                      <p:cBhvr>
                                        <p:cTn id="18" dur="2000"/>
                                        <p:tgtEl>
                                          <p:spTgt spid="148487">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48487">
                                            <p:txEl>
                                              <p:pRg st="3" end="3"/>
                                            </p:txEl>
                                          </p:spTgt>
                                        </p:tgtEl>
                                        <p:attrNameLst>
                                          <p:attrName>style.visibility</p:attrName>
                                        </p:attrNameLst>
                                      </p:cBhvr>
                                      <p:to>
                                        <p:strVal val="visible"/>
                                      </p:to>
                                    </p:set>
                                    <p:animEffect transition="in" filter="fade">
                                      <p:cBhvr>
                                        <p:cTn id="21" dur="2000"/>
                                        <p:tgtEl>
                                          <p:spTgt spid="148487">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48487">
                                            <p:txEl>
                                              <p:pRg st="4" end="4"/>
                                            </p:txEl>
                                          </p:spTgt>
                                        </p:tgtEl>
                                        <p:attrNameLst>
                                          <p:attrName>style.visibility</p:attrName>
                                        </p:attrNameLst>
                                      </p:cBhvr>
                                      <p:to>
                                        <p:strVal val="visible"/>
                                      </p:to>
                                    </p:set>
                                    <p:animEffect transition="in" filter="fade">
                                      <p:cBhvr>
                                        <p:cTn id="24" dur="2000"/>
                                        <p:tgtEl>
                                          <p:spTgt spid="1484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6" grpId="0"/>
      <p:bldP spid="148487" grpId="0" build="p">
        <p:tmplLst>
          <p:tmpl lvl="1">
            <p:tnLst>
              <p:par>
                <p:cTn presetID="10" presetClass="entr" presetSubtype="0" fill="hold" nodeType="clickEffect">
                  <p:stCondLst>
                    <p:cond delay="0"/>
                  </p:stCondLst>
                  <p:childTnLst>
                    <p:set>
                      <p:cBhvr>
                        <p:cTn dur="1" fill="hold">
                          <p:stCondLst>
                            <p:cond delay="0"/>
                          </p:stCondLst>
                        </p:cTn>
                        <p:tgtEl>
                          <p:spTgt spid="148487"/>
                        </p:tgtEl>
                        <p:attrNameLst>
                          <p:attrName>style.visibility</p:attrName>
                        </p:attrNameLst>
                      </p:cBhvr>
                      <p:to>
                        <p:strVal val="visible"/>
                      </p:to>
                    </p:set>
                    <p:animEffect transition="in" filter="fade">
                      <p:cBhvr>
                        <p:cTn dur="2000"/>
                        <p:tgtEl>
                          <p:spTgt spid="148487"/>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48487"/>
                        </p:tgtEl>
                        <p:attrNameLst>
                          <p:attrName>style.visibility</p:attrName>
                        </p:attrNameLst>
                      </p:cBhvr>
                      <p:to>
                        <p:strVal val="visible"/>
                      </p:to>
                    </p:set>
                    <p:animEffect transition="in" filter="fade">
                      <p:cBhvr>
                        <p:cTn dur="2000"/>
                        <p:tgtEl>
                          <p:spTgt spid="148487"/>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48487"/>
                        </p:tgtEl>
                        <p:attrNameLst>
                          <p:attrName>style.visibility</p:attrName>
                        </p:attrNameLst>
                      </p:cBhvr>
                      <p:to>
                        <p:strVal val="visible"/>
                      </p:to>
                    </p:set>
                    <p:animEffect transition="in" filter="fade">
                      <p:cBhvr>
                        <p:cTn dur="2000"/>
                        <p:tgtEl>
                          <p:spTgt spid="148487"/>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48487"/>
                        </p:tgtEl>
                        <p:attrNameLst>
                          <p:attrName>style.visibility</p:attrName>
                        </p:attrNameLst>
                      </p:cBhvr>
                      <p:to>
                        <p:strVal val="visible"/>
                      </p:to>
                    </p:set>
                    <p:animEffect transition="in" filter="fade">
                      <p:cBhvr>
                        <p:cTn dur="2000"/>
                        <p:tgtEl>
                          <p:spTgt spid="148487"/>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48487"/>
                        </p:tgtEl>
                        <p:attrNameLst>
                          <p:attrName>style.visibility</p:attrName>
                        </p:attrNameLst>
                      </p:cBhvr>
                      <p:to>
                        <p:strVal val="visible"/>
                      </p:to>
                    </p:set>
                    <p:animEffect transition="in" filter="fade">
                      <p:cBhvr>
                        <p:cTn dur="2000"/>
                        <p:tgtEl>
                          <p:spTgt spid="148487"/>
                        </p:tgtEl>
                      </p:cBhvr>
                    </p:animEffect>
                  </p:childTnLst>
                </p:cTn>
              </p:par>
            </p:tnLst>
          </p:tmpl>
        </p:tmplLst>
      </p:bldP>
    </p:bldLst>
  </p:timing>
  <p:txStyles>
    <p:titleStyle>
      <a:lvl1pPr algn="l" rtl="0" eaLnBrk="0" fontAlgn="base" hangingPunct="0">
        <a:spcBef>
          <a:spcPct val="0"/>
        </a:spcBef>
        <a:spcAft>
          <a:spcPct val="0"/>
        </a:spcAft>
        <a:defRPr sz="3600">
          <a:solidFill>
            <a:schemeClr val="tx2"/>
          </a:solidFill>
          <a:latin typeface="+mj-lt"/>
          <a:ea typeface="ＭＳ Ｐゴシック" panose="020B0600070205080204" pitchFamily="34" charset="-128"/>
          <a:cs typeface="+mj-cs"/>
        </a:defRPr>
      </a:lvl1pPr>
      <a:lvl2pPr algn="l" rtl="0" eaLnBrk="0" fontAlgn="base" hangingPunct="0">
        <a:spcBef>
          <a:spcPct val="0"/>
        </a:spcBef>
        <a:spcAft>
          <a:spcPct val="0"/>
        </a:spcAft>
        <a:defRPr sz="3600">
          <a:solidFill>
            <a:schemeClr val="tx2"/>
          </a:solidFill>
          <a:latin typeface="Arial" pitchFamily="1" charset="0"/>
          <a:ea typeface="ＭＳ Ｐゴシック" panose="020B0600070205080204" pitchFamily="34" charset="-128"/>
        </a:defRPr>
      </a:lvl2pPr>
      <a:lvl3pPr algn="l" rtl="0" eaLnBrk="0" fontAlgn="base" hangingPunct="0">
        <a:spcBef>
          <a:spcPct val="0"/>
        </a:spcBef>
        <a:spcAft>
          <a:spcPct val="0"/>
        </a:spcAft>
        <a:defRPr sz="3600">
          <a:solidFill>
            <a:schemeClr val="tx2"/>
          </a:solidFill>
          <a:latin typeface="Arial" pitchFamily="1" charset="0"/>
          <a:ea typeface="ＭＳ Ｐゴシック" panose="020B0600070205080204" pitchFamily="34" charset="-128"/>
        </a:defRPr>
      </a:lvl3pPr>
      <a:lvl4pPr algn="l" rtl="0" eaLnBrk="0" fontAlgn="base" hangingPunct="0">
        <a:spcBef>
          <a:spcPct val="0"/>
        </a:spcBef>
        <a:spcAft>
          <a:spcPct val="0"/>
        </a:spcAft>
        <a:defRPr sz="3600">
          <a:solidFill>
            <a:schemeClr val="tx2"/>
          </a:solidFill>
          <a:latin typeface="Arial" pitchFamily="1" charset="0"/>
          <a:ea typeface="ＭＳ Ｐゴシック" panose="020B0600070205080204" pitchFamily="34" charset="-128"/>
        </a:defRPr>
      </a:lvl4pPr>
      <a:lvl5pPr algn="l" rtl="0" eaLnBrk="0" fontAlgn="base" hangingPunct="0">
        <a:spcBef>
          <a:spcPct val="0"/>
        </a:spcBef>
        <a:spcAft>
          <a:spcPct val="0"/>
        </a:spcAft>
        <a:defRPr sz="3600">
          <a:solidFill>
            <a:schemeClr val="tx2"/>
          </a:solidFill>
          <a:latin typeface="Arial" pitchFamily="1" charset="0"/>
          <a:ea typeface="ＭＳ Ｐゴシック" panose="020B0600070205080204" pitchFamily="34" charset="-128"/>
        </a:defRPr>
      </a:lvl5pPr>
      <a:lvl6pPr marL="457200" algn="l" rtl="0" fontAlgn="base">
        <a:spcBef>
          <a:spcPct val="0"/>
        </a:spcBef>
        <a:spcAft>
          <a:spcPct val="0"/>
        </a:spcAft>
        <a:defRPr sz="3600">
          <a:solidFill>
            <a:schemeClr val="tx2"/>
          </a:solidFill>
          <a:latin typeface="Arial" pitchFamily="1" charset="0"/>
        </a:defRPr>
      </a:lvl6pPr>
      <a:lvl7pPr marL="914400" algn="l" rtl="0" fontAlgn="base">
        <a:spcBef>
          <a:spcPct val="0"/>
        </a:spcBef>
        <a:spcAft>
          <a:spcPct val="0"/>
        </a:spcAft>
        <a:defRPr sz="3600">
          <a:solidFill>
            <a:schemeClr val="tx2"/>
          </a:solidFill>
          <a:latin typeface="Arial" pitchFamily="1" charset="0"/>
        </a:defRPr>
      </a:lvl7pPr>
      <a:lvl8pPr marL="1371600" algn="l" rtl="0" fontAlgn="base">
        <a:spcBef>
          <a:spcPct val="0"/>
        </a:spcBef>
        <a:spcAft>
          <a:spcPct val="0"/>
        </a:spcAft>
        <a:defRPr sz="3600">
          <a:solidFill>
            <a:schemeClr val="tx2"/>
          </a:solidFill>
          <a:latin typeface="Arial" pitchFamily="1" charset="0"/>
        </a:defRPr>
      </a:lvl8pPr>
      <a:lvl9pPr marL="1828800" algn="l" rtl="0" fontAlgn="base">
        <a:spcBef>
          <a:spcPct val="0"/>
        </a:spcBef>
        <a:spcAft>
          <a:spcPct val="0"/>
        </a:spcAft>
        <a:defRPr sz="3600">
          <a:solidFill>
            <a:schemeClr val="tx2"/>
          </a:solidFill>
          <a:latin typeface="Arial" pitchFamily="1"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ＭＳ Ｐゴシック" panose="020B0600070205080204" pitchFamily="34" charset="-128"/>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ＭＳ Ｐゴシック" pitchFamily="1" charset="-128"/>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ＭＳ Ｐゴシック" pitchFamily="1" charset="-128"/>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ＭＳ Ｐゴシック" pitchFamily="1" charset="-128"/>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ＭＳ Ｐゴシック" pitchFamily="1" charset="-128"/>
        </a:defRPr>
      </a:lvl5pPr>
      <a:lvl6pPr marL="2514600" indent="-228600" algn="l" rtl="0" fontAlgn="base">
        <a:spcBef>
          <a:spcPct val="20000"/>
        </a:spcBef>
        <a:spcAft>
          <a:spcPct val="0"/>
        </a:spcAft>
        <a:buClr>
          <a:schemeClr val="tx2"/>
        </a:buClr>
        <a:buSzPct val="60000"/>
        <a:buFont typeface="Wingdings" pitchFamily="1" charset="2"/>
        <a:buChar char="¡"/>
        <a:defRPr sz="1900">
          <a:solidFill>
            <a:schemeClr val="tx1"/>
          </a:solidFill>
          <a:latin typeface="+mn-lt"/>
          <a:ea typeface="ＭＳ Ｐゴシック" pitchFamily="1" charset="-128"/>
        </a:defRPr>
      </a:lvl6pPr>
      <a:lvl7pPr marL="2971800" indent="-228600" algn="l" rtl="0" fontAlgn="base">
        <a:spcBef>
          <a:spcPct val="20000"/>
        </a:spcBef>
        <a:spcAft>
          <a:spcPct val="0"/>
        </a:spcAft>
        <a:buClr>
          <a:schemeClr val="tx2"/>
        </a:buClr>
        <a:buSzPct val="60000"/>
        <a:buFont typeface="Wingdings" pitchFamily="1" charset="2"/>
        <a:buChar char="¡"/>
        <a:defRPr sz="1900">
          <a:solidFill>
            <a:schemeClr val="tx1"/>
          </a:solidFill>
          <a:latin typeface="+mn-lt"/>
          <a:ea typeface="ＭＳ Ｐゴシック" pitchFamily="1" charset="-128"/>
        </a:defRPr>
      </a:lvl7pPr>
      <a:lvl8pPr marL="3429000" indent="-228600" algn="l" rtl="0" fontAlgn="base">
        <a:spcBef>
          <a:spcPct val="20000"/>
        </a:spcBef>
        <a:spcAft>
          <a:spcPct val="0"/>
        </a:spcAft>
        <a:buClr>
          <a:schemeClr val="tx2"/>
        </a:buClr>
        <a:buSzPct val="60000"/>
        <a:buFont typeface="Wingdings" pitchFamily="1" charset="2"/>
        <a:buChar char="¡"/>
        <a:defRPr sz="1900">
          <a:solidFill>
            <a:schemeClr val="tx1"/>
          </a:solidFill>
          <a:latin typeface="+mn-lt"/>
          <a:ea typeface="ＭＳ Ｐゴシック" pitchFamily="1" charset="-128"/>
        </a:defRPr>
      </a:lvl8pPr>
      <a:lvl9pPr marL="3886200" indent="-228600" algn="l" rtl="0" fontAlgn="base">
        <a:spcBef>
          <a:spcPct val="20000"/>
        </a:spcBef>
        <a:spcAft>
          <a:spcPct val="0"/>
        </a:spcAft>
        <a:buClr>
          <a:schemeClr val="tx2"/>
        </a:buClr>
        <a:buSzPct val="60000"/>
        <a:buFont typeface="Wingdings" pitchFamily="1" charset="2"/>
        <a:buChar char="¡"/>
        <a:defRPr sz="1900">
          <a:solidFill>
            <a:schemeClr val="tx1"/>
          </a:solidFill>
          <a:latin typeface="+mn-lt"/>
          <a:ea typeface="ＭＳ Ｐゴシック"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884FBF4-38A3-A1C4-2202-FE67E6A50B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9144000" cy="708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A9BA8BC-0DC0-2EBF-037D-B9CBB1FEA3FB}"/>
              </a:ext>
            </a:extLst>
          </p:cNvPr>
          <p:cNvSpPr>
            <a:spLocks noGrp="1" noChangeArrowheads="1"/>
          </p:cNvSpPr>
          <p:nvPr>
            <p:ph type="title"/>
          </p:nvPr>
        </p:nvSpPr>
        <p:spPr/>
        <p:txBody>
          <a:bodyPr/>
          <a:lstStyle/>
          <a:p>
            <a:r>
              <a:rPr lang="en-US" altLang="en-US"/>
              <a:t>为什么要在 非暴力沟通 上上课？</a:t>
            </a:r>
          </a:p>
        </p:txBody>
      </p:sp>
      <p:sp>
        <p:nvSpPr>
          <p:cNvPr id="3" name="Content Placeholder 2">
            <a:extLst>
              <a:ext uri="{FF2B5EF4-FFF2-40B4-BE49-F238E27FC236}">
                <a16:creationId xmlns:a16="http://schemas.microsoft.com/office/drawing/2014/main" id="{7FB6CDF1-9520-B9AF-60E2-73F1C13D2572}"/>
              </a:ext>
            </a:extLst>
          </p:cNvPr>
          <p:cNvSpPr>
            <a:spLocks noGrp="1" noChangeArrowheads="1"/>
          </p:cNvSpPr>
          <p:nvPr>
            <p:ph idx="1"/>
          </p:nvPr>
        </p:nvSpPr>
        <p:spPr>
          <a:xfrm>
            <a:off x="1370013" y="2398713"/>
            <a:ext cx="7313612" cy="2058987"/>
          </a:xfrm>
        </p:spPr>
        <p:txBody>
          <a:bodyPr/>
          <a:lstStyle/>
          <a:p>
            <a:r>
              <a:rPr lang="en-US" altLang="en-US"/>
              <a:t>莱恩与 NVC（非暴力沟通） 的历史</a:t>
            </a:r>
          </a:p>
          <a:p>
            <a:pPr lvl="1"/>
            <a:r>
              <a:rPr lang="en-US" altLang="en-US">
                <a:ea typeface="ＭＳ Ｐゴシック" panose="020B0600070205080204" pitchFamily="34" charset="-128"/>
              </a:rPr>
              <a:t>神学院课程</a:t>
            </a:r>
          </a:p>
          <a:p>
            <a:pPr lvl="1"/>
            <a:r>
              <a:rPr lang="en-US" altLang="en-US">
                <a:ea typeface="ＭＳ Ｐゴシック" panose="020B0600070205080204" pitchFamily="34" charset="-128"/>
              </a:rPr>
              <a:t>教授各种社区</a:t>
            </a:r>
          </a:p>
          <a:p>
            <a:pPr lvl="1"/>
            <a:r>
              <a:rPr lang="en-US" altLang="en-US">
                <a:ea typeface="ＭＳ Ｐゴシック" panose="020B0600070205080204" pitchFamily="34" charset="-128"/>
              </a:rPr>
              <a:t>对 WCCW 非常有帮助</a:t>
            </a:r>
          </a:p>
          <a:p>
            <a:r>
              <a:rPr lang="en-US" altLang="en-US"/>
              <a:t>这对我们的教会社区有何用处？</a:t>
            </a:r>
          </a:p>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5F7B59D8-3A5F-A1C1-95C5-125C9FDC7493}"/>
              </a:ext>
            </a:extLst>
          </p:cNvPr>
          <p:cNvSpPr>
            <a:spLocks noGrp="1" noChangeArrowheads="1"/>
          </p:cNvSpPr>
          <p:nvPr>
            <p:ph type="title"/>
          </p:nvPr>
        </p:nvSpPr>
        <p:spPr/>
        <p:txBody>
          <a:bodyPr/>
          <a:lstStyle/>
          <a:p>
            <a:r>
              <a:rPr lang="en-US" altLang="en-US"/>
              <a:t>为什么要在 非暴力沟通 上上课？</a:t>
            </a:r>
          </a:p>
        </p:txBody>
      </p:sp>
      <p:sp>
        <p:nvSpPr>
          <p:cNvPr id="6147" name="Content Placeholder 2">
            <a:extLst>
              <a:ext uri="{FF2B5EF4-FFF2-40B4-BE49-F238E27FC236}">
                <a16:creationId xmlns:a16="http://schemas.microsoft.com/office/drawing/2014/main" id="{58F87CD7-1211-FBD3-86F8-583E1C3EA5D4}"/>
              </a:ext>
            </a:extLst>
          </p:cNvPr>
          <p:cNvSpPr>
            <a:spLocks noGrp="1" noChangeArrowheads="1"/>
          </p:cNvSpPr>
          <p:nvPr>
            <p:ph idx="1"/>
          </p:nvPr>
        </p:nvSpPr>
        <p:spPr/>
        <p:txBody>
          <a:bodyPr/>
          <a:lstStyle/>
          <a:p>
            <a:r>
              <a:rPr lang="en-US" altLang="en-US"/>
              <a:t>NVC（非暴力沟通） 与马特 25 有什么关系？</a:t>
            </a:r>
          </a:p>
          <a:p>
            <a:pPr lvl="1"/>
            <a:r>
              <a:rPr lang="en-US" altLang="en-US">
                <a:ea typeface="ＭＳ Ｐゴシック" panose="020B0600070205080204" pitchFamily="34" charset="-128"/>
              </a:rPr>
              <a:t>建立会众活力</a:t>
            </a:r>
          </a:p>
          <a:p>
            <a:pPr lvl="1"/>
            <a:r>
              <a:rPr lang="en-US" altLang="en-US">
                <a:ea typeface="ＭＳ Ｐゴシック" panose="020B0600070205080204" pitchFamily="34" charset="-128"/>
              </a:rPr>
              <a:t>消除结构性种族主义</a:t>
            </a:r>
          </a:p>
          <a:p>
            <a:pPr lvl="1"/>
            <a:r>
              <a:rPr lang="en-US" altLang="en-US">
                <a:ea typeface="ＭＳ Ｐゴシック" panose="020B0600070205080204" pitchFamily="34" charset="-128"/>
              </a:rPr>
              <a:t>消除系统性贫困</a:t>
            </a:r>
          </a:p>
          <a:p>
            <a:r>
              <a:rPr lang="en-US" altLang="en-US"/>
              <a:t>这对我们的教会社区有何用处？</a:t>
            </a:r>
          </a:p>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971E025-E737-5099-8B26-A3D8EBF05EE6}"/>
              </a:ext>
            </a:extLst>
          </p:cNvPr>
          <p:cNvSpPr>
            <a:spLocks noGrp="1" noChangeArrowheads="1"/>
          </p:cNvSpPr>
          <p:nvPr>
            <p:ph type="title"/>
          </p:nvPr>
        </p:nvSpPr>
        <p:spPr/>
        <p:txBody>
          <a:bodyPr/>
          <a:lstStyle/>
          <a:p>
            <a:pPr eaLnBrk="1" hangingPunct="1"/>
            <a:r>
              <a:rPr lang="en-US" altLang="en-US" sz="5400">
                <a:latin typeface="Freestyle Script" panose="030804020302050B0404" pitchFamily="66" charset="0"/>
              </a:rPr>
              <a:t>创始人Mar</a:t>
            </a:r>
            <a:br>
              <a:rPr lang="en-US" altLang="en-US" sz="5400">
                <a:latin typeface="Freestyle Script" panose="030804020302050B0404" pitchFamily="66" charset="0"/>
              </a:rPr>
            </a:br>
            <a:r>
              <a:rPr lang="en-US" altLang="en-US" sz="1400">
                <a:solidFill>
                  <a:schemeClr val="hlink"/>
                </a:solidFill>
              </a:rPr>
              <a:t>shall B. Rosenber</a:t>
            </a:r>
            <a:r>
              <a:rPr lang="en-US" altLang="en-US" sz="3200"/>
              <a:t>g</a:t>
            </a:r>
          </a:p>
        </p:txBody>
      </p:sp>
      <p:sp>
        <p:nvSpPr>
          <p:cNvPr id="43011" name="Rectangle 3">
            <a:extLst>
              <a:ext uri="{FF2B5EF4-FFF2-40B4-BE49-F238E27FC236}">
                <a16:creationId xmlns:a16="http://schemas.microsoft.com/office/drawing/2014/main" id="{F95EB2B1-1F08-55A6-B6B4-BF54E6067235}"/>
              </a:ext>
            </a:extLst>
          </p:cNvPr>
          <p:cNvSpPr>
            <a:spLocks noGrp="1" noChangeArrowheads="1"/>
          </p:cNvSpPr>
          <p:nvPr>
            <p:ph type="body" idx="1"/>
          </p:nvPr>
        </p:nvSpPr>
        <p:spPr/>
        <p:txBody>
          <a:bodyPr/>
          <a:lstStyle/>
          <a:p>
            <a:pPr eaLnBrk="1" hangingPunct="1">
              <a:lnSpc>
                <a:spcPct val="90000"/>
              </a:lnSpc>
            </a:pPr>
            <a:r>
              <a:rPr lang="en-US" altLang="en-US" sz="1700" b="1">
                <a:solidFill>
                  <a:schemeClr val="tx2"/>
                </a:solidFill>
                <a:latin typeface="Garamond" panose="02020404030301010803" pitchFamily="18" charset="0"/>
              </a:rPr>
              <a:t>Marshall B. Rosenberg 博士是 非暴力沟通 中心的创始人。  他于2015年去世</a:t>
            </a:r>
          </a:p>
          <a:p>
            <a:pPr eaLnBrk="1" hangingPunct="1">
              <a:lnSpc>
                <a:spcPct val="90000"/>
              </a:lnSpc>
            </a:pPr>
            <a:endParaRPr lang="en-US" altLang="en-US" sz="1700" b="1">
              <a:solidFill>
                <a:schemeClr val="tx2"/>
              </a:solidFill>
              <a:latin typeface="Garamond" panose="02020404030301010803" pitchFamily="18" charset="0"/>
            </a:endParaRPr>
          </a:p>
          <a:p>
            <a:pPr eaLnBrk="1" hangingPunct="1">
              <a:lnSpc>
                <a:spcPct val="90000"/>
              </a:lnSpc>
            </a:pPr>
            <a:r>
              <a:rPr lang="en-US" altLang="en-US" sz="1700" b="1">
                <a:solidFill>
                  <a:schemeClr val="tx2"/>
                </a:solidFill>
                <a:latin typeface="Garamond" panose="02020404030301010803" pitchFamily="18" charset="0"/>
              </a:rPr>
              <a:t>他在底特律市中心的一个社区长大，童年时期目睹了各种形式的暴力行为。他想探讨暴力的原因以及可以采取哪些措施来减少暴力。他选择学习临床心理学并获得博士学位。 1961年获得威斯康星大学临床心理学博士学位。</a:t>
            </a:r>
          </a:p>
          <a:p>
            <a:pPr eaLnBrk="1" hangingPunct="1">
              <a:lnSpc>
                <a:spcPct val="90000"/>
              </a:lnSpc>
            </a:pPr>
            <a:endParaRPr lang="en-US" altLang="en-US" sz="1700" b="1">
              <a:solidFill>
                <a:schemeClr val="tx2"/>
              </a:solidFill>
              <a:latin typeface="Garamond" panose="02020404030301010803" pitchFamily="18" charset="0"/>
            </a:endParaRPr>
          </a:p>
          <a:p>
            <a:pPr eaLnBrk="1" hangingPunct="1">
              <a:lnSpc>
                <a:spcPct val="90000"/>
              </a:lnSpc>
            </a:pPr>
            <a:r>
              <a:rPr lang="en-US" altLang="en-US" sz="1700" b="1">
                <a:solidFill>
                  <a:schemeClr val="tx2"/>
                </a:solidFill>
                <a:latin typeface="Garamond" panose="02020404030301010803" pitchFamily="18" charset="0"/>
              </a:rPr>
              <a:t>非暴力沟通是从他的研究中演变而来的。</a:t>
            </a:r>
          </a:p>
          <a:p>
            <a:pPr eaLnBrk="1" hangingPunct="1">
              <a:lnSpc>
                <a:spcPct val="90000"/>
              </a:lnSpc>
            </a:pPr>
            <a:endParaRPr lang="en-US" altLang="en-US" sz="1700" b="1">
              <a:solidFill>
                <a:schemeClr val="tx2"/>
              </a:solidFill>
              <a:latin typeface="Garamond" panose="02020404030301010803" pitchFamily="18" charset="0"/>
            </a:endParaRPr>
          </a:p>
          <a:p>
            <a:pPr eaLnBrk="1" hangingPunct="1">
              <a:lnSpc>
                <a:spcPct val="90000"/>
              </a:lnSpc>
            </a:pPr>
            <a:r>
              <a:rPr lang="en-US" altLang="en-US" sz="1700" b="1">
                <a:solidFill>
                  <a:schemeClr val="tx2"/>
                </a:solidFill>
                <a:latin typeface="Garamond" panose="02020404030301010803" pitchFamily="18" charset="0"/>
              </a:rPr>
              <a:t>非暴力沟通 中心的成立源于他在 1960 年代初期与民权活动人士所做的工作。在此期间，他在骚乱的学生和大学管理人员之间进行调解，并致力于和平地废除长期种族隔离地区公立学校的种族隔离</a:t>
            </a:r>
            <a:r>
              <a:rPr lang="en-US" altLang="en-US" sz="1700" b="1">
                <a:solidFill>
                  <a:srgbClr val="000000"/>
                </a:solidFill>
                <a:latin typeface="Garamond" panose="02020404030301010803" pitchFamily="18" charset="0"/>
              </a:rPr>
              <a:t/>
            </a:r>
          </a:p>
        </p:txBody>
      </p:sp>
      <p:pic>
        <p:nvPicPr>
          <p:cNvPr id="7172" name="Picture 6" descr="Marshall Rosenberg, PhD">
            <a:extLst>
              <a:ext uri="{FF2B5EF4-FFF2-40B4-BE49-F238E27FC236}">
                <a16:creationId xmlns:a16="http://schemas.microsoft.com/office/drawing/2014/main" id="{549B7F31-F94D-3AC0-7F8B-7535A31322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52400"/>
            <a:ext cx="1981200" cy="150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01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0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26F29E7-1F54-B437-CF21-617701CB012D}"/>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罗森伯格的两个激励性问题</a:t>
            </a:r>
            <a:r>
              <a:rPr lang="en-US" altLang="en-US"/>
              <a:t/>
            </a:r>
          </a:p>
        </p:txBody>
      </p:sp>
      <p:sp>
        <p:nvSpPr>
          <p:cNvPr id="44035" name="Rectangle 3">
            <a:extLst>
              <a:ext uri="{FF2B5EF4-FFF2-40B4-BE49-F238E27FC236}">
                <a16:creationId xmlns:a16="http://schemas.microsoft.com/office/drawing/2014/main" id="{E64CB910-7596-360D-9ECA-0B25E2DCF846}"/>
              </a:ext>
            </a:extLst>
          </p:cNvPr>
          <p:cNvSpPr>
            <a:spLocks noGrp="1" noChangeArrowheads="1"/>
          </p:cNvSpPr>
          <p:nvPr>
            <p:ph type="body" idx="1"/>
          </p:nvPr>
        </p:nvSpPr>
        <p:spPr/>
        <p:txBody>
          <a:bodyPr/>
          <a:lstStyle/>
          <a:p>
            <a:pPr eaLnBrk="1" hangingPunct="1">
              <a:buFont typeface="Wingdings" panose="05000000000000000000" pitchFamily="2" charset="2"/>
              <a:buNone/>
            </a:pPr>
            <a:r>
              <a:rPr lang="en-US" altLang="en-US">
                <a:solidFill>
                  <a:schemeClr val="hlink"/>
                </a:solidFill>
                <a:latin typeface="Garamond" panose="02020404030301010803" pitchFamily="18" charset="0"/>
              </a:rPr>
              <a:t>1. 发生什么事情会使我们与慈悲的本性脱节？</a:t>
            </a:r>
          </a:p>
          <a:p>
            <a:pPr lvl="1" eaLnBrk="1" hangingPunct="1"/>
            <a:r>
              <a:rPr lang="en-US" altLang="en-US">
                <a:solidFill>
                  <a:schemeClr val="hlink"/>
                </a:solidFill>
                <a:latin typeface="Garamond" panose="02020404030301010803" pitchFamily="18" charset="0"/>
                <a:ea typeface="ＭＳ Ｐゴシック" panose="020B0600070205080204" pitchFamily="34" charset="-128"/>
              </a:rPr>
              <a:t>是什么导致我们（人类）表现出暴力和剥削行为</a:t>
            </a:r>
          </a:p>
          <a:p>
            <a:pPr eaLnBrk="1" hangingPunct="1">
              <a:buFont typeface="Wingdings" panose="05000000000000000000" pitchFamily="2" charset="2"/>
              <a:buNone/>
            </a:pPr>
            <a:r>
              <a:rPr lang="en-US" altLang="en-US">
                <a:solidFill>
                  <a:schemeClr val="hlink"/>
                </a:solidFill>
                <a:latin typeface="Garamond" panose="02020404030301010803" pitchFamily="18" charset="0"/>
              </a:rPr>
              <a:t>2. 是什么让一些人即使在最艰难的情况下也能保持同情心</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884E2624-51B2-4286-8A9F-51E1D2294777}"/>
              </a:ext>
            </a:extLst>
          </p:cNvPr>
          <p:cNvSpPr>
            <a:spLocks noGrp="1" noChangeArrowheads="1"/>
          </p:cNvSpPr>
          <p:nvPr>
            <p:ph type="title"/>
          </p:nvPr>
        </p:nvSpPr>
        <p:spPr>
          <a:xfrm>
            <a:off x="381000" y="292100"/>
            <a:ext cx="8229600" cy="1384300"/>
          </a:xfrm>
        </p:spPr>
        <p:txBody>
          <a:bodyPr/>
          <a:lstStyle/>
          <a:p>
            <a:pPr algn="ctr" eaLnBrk="1" hangingPunct="1"/>
            <a:r>
              <a:rPr lang="en-US" altLang="en-US" sz="5400">
                <a:latin typeface="Freestyle Script" panose="030804020302050B0404" pitchFamily="66" charset="0"/>
              </a:rPr>
              <a:t>NVC（非暴力沟通）是什么</a:t>
            </a:r>
            <a:r>
              <a:rPr lang="en-US" altLang="en-US"/>
              <a:t>？</a:t>
            </a:r>
          </a:p>
        </p:txBody>
      </p:sp>
      <p:sp>
        <p:nvSpPr>
          <p:cNvPr id="84995" name="Rectangle 3">
            <a:extLst>
              <a:ext uri="{FF2B5EF4-FFF2-40B4-BE49-F238E27FC236}">
                <a16:creationId xmlns:a16="http://schemas.microsoft.com/office/drawing/2014/main" id="{23022113-D428-586D-706D-36DD60C21B5B}"/>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“NVC（</a:t>
            </a:r>
            <a:r>
              <a:rPr lang="en-US" altLang="en-US" u="sng">
                <a:solidFill>
                  <a:schemeClr val="hlink"/>
                </a:solidFill>
                <a:latin typeface="Garamond" panose="02020404030301010803" pitchFamily="18" charset="0"/>
              </a:rPr>
              <a:t>非暴力沟通） 是一</a:t>
            </a:r>
            <a:r>
              <a:rPr lang="en-US" altLang="en-US">
                <a:solidFill>
                  <a:schemeClr val="hlink"/>
                </a:solidFill>
                <a:latin typeface="Garamond" panose="02020404030301010803" pitchFamily="18" charset="0"/>
              </a:rPr>
              <a:t>种让人们发自内心奉献的沟通方式。” -罗森伯格</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这是一个沟通的过程，旨在让个人保持富有同情心的联系</a:t>
            </a:r>
            <a:r>
              <a:rPr lang="en-US" altLang="en-US"/>
              <a:t>。</a:t>
            </a:r>
          </a:p>
          <a:p>
            <a:pPr algn="ctr" eaLnBrk="1" hangingPunct="1">
              <a:buFont typeface="Wingdings" panose="05000000000000000000" pitchFamily="2" charset="2"/>
              <a:buNone/>
            </a:pPr>
            <a:endParaRPr lang="en-US" altLang="en-US"/>
          </a:p>
          <a:p>
            <a:pPr algn="ctr" eaLnBrk="1" hangingPunct="1">
              <a:buFont typeface="Wingdings" panose="05000000000000000000" pitchFamily="2" charset="2"/>
              <a:buNone/>
            </a:pPr>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F554300D-E1D0-988A-9178-1D29E1DD0CB5}"/>
              </a:ext>
            </a:extLst>
          </p:cNvPr>
          <p:cNvSpPr>
            <a:spLocks noGrp="1" noChangeArrowheads="1"/>
          </p:cNvSpPr>
          <p:nvPr>
            <p:ph type="title"/>
          </p:nvPr>
        </p:nvSpPr>
        <p:spPr/>
        <p:txBody>
          <a:bodyPr/>
          <a:lstStyle/>
          <a:p>
            <a:pPr algn="ctr" eaLnBrk="1" hangingPunct="1"/>
            <a:r>
              <a:rPr lang="en-US" altLang="en-US"/>
              <a:t>N</a:t>
            </a:r>
            <a:r>
              <a:rPr lang="en-US" altLang="en-US" sz="5400">
                <a:latin typeface="Freestyle Script" panose="030804020302050B0404" pitchFamily="66" charset="0"/>
              </a:rPr>
              <a:t>VC（非暴力沟通）是什么</a:t>
            </a:r>
            <a:r>
              <a:rPr lang="en-US" altLang="en-US"/>
              <a:t>？</a:t>
            </a:r>
          </a:p>
        </p:txBody>
      </p:sp>
      <p:sp>
        <p:nvSpPr>
          <p:cNvPr id="45059" name="Rectangle 3">
            <a:extLst>
              <a:ext uri="{FF2B5EF4-FFF2-40B4-BE49-F238E27FC236}">
                <a16:creationId xmlns:a16="http://schemas.microsoft.com/office/drawing/2014/main" id="{B6F46797-5C51-B6B3-7C7B-FC5675A45915}"/>
              </a:ext>
            </a:extLst>
          </p:cNvPr>
          <p:cNvSpPr>
            <a:spLocks noGrp="1" noChangeArrowheads="1"/>
          </p:cNvSpPr>
          <p:nvPr>
            <p:ph type="body" idx="1"/>
          </p:nvPr>
        </p:nvSpPr>
        <p:spPr/>
        <p:txBody>
          <a:bodyPr/>
          <a:lstStyle/>
          <a:p>
            <a:pPr eaLnBrk="1" hangingPunct="1">
              <a:lnSpc>
                <a:spcPct val="90000"/>
              </a:lnSpc>
            </a:pPr>
            <a:r>
              <a:rPr lang="en-US" altLang="en-US" sz="1900" b="1">
                <a:solidFill>
                  <a:schemeClr val="hlink"/>
                </a:solidFill>
                <a:latin typeface="Garamond" panose="02020404030301010803" pitchFamily="18" charset="0"/>
              </a:rPr>
              <a:t>NVC（非暴力沟通） 建立在语言和沟通技能的基础上，这些技能增强了我们即使在艰难的条件下也能保持人性的能力。</a:t>
            </a:r>
          </a:p>
          <a:p>
            <a:pPr eaLnBrk="1" hangingPunct="1">
              <a:lnSpc>
                <a:spcPct val="90000"/>
              </a:lnSpc>
            </a:pPr>
            <a:endParaRPr lang="en-US" altLang="en-US" sz="1900" b="1">
              <a:solidFill>
                <a:schemeClr val="hlink"/>
              </a:solidFill>
              <a:latin typeface="Garamond" panose="02020404030301010803" pitchFamily="18" charset="0"/>
            </a:endParaRPr>
          </a:p>
          <a:p>
            <a:pPr eaLnBrk="1" hangingPunct="1">
              <a:lnSpc>
                <a:spcPct val="90000"/>
              </a:lnSpc>
            </a:pPr>
            <a:r>
              <a:rPr lang="en-US" altLang="en-US" sz="1900" b="1">
                <a:solidFill>
                  <a:schemeClr val="hlink"/>
                </a:solidFill>
                <a:latin typeface="Garamond" panose="02020404030301010803" pitchFamily="18" charset="0"/>
              </a:rPr>
              <a:t>NVC（非暴力沟通） 是重新构建我们如何表达自己和倾听他人的指南。</a:t>
            </a:r>
          </a:p>
          <a:p>
            <a:pPr eaLnBrk="1" hangingPunct="1">
              <a:lnSpc>
                <a:spcPct val="90000"/>
              </a:lnSpc>
            </a:pPr>
            <a:endParaRPr lang="en-US" altLang="en-US" sz="1900" b="1">
              <a:solidFill>
                <a:schemeClr val="hlink"/>
              </a:solidFill>
              <a:latin typeface="Garamond" panose="02020404030301010803" pitchFamily="18" charset="0"/>
            </a:endParaRPr>
          </a:p>
          <a:p>
            <a:pPr eaLnBrk="1" hangingPunct="1">
              <a:lnSpc>
                <a:spcPct val="90000"/>
              </a:lnSpc>
            </a:pPr>
            <a:r>
              <a:rPr lang="en-US" altLang="en-US" sz="1900" b="1">
                <a:solidFill>
                  <a:schemeClr val="hlink"/>
                </a:solidFill>
                <a:latin typeface="Garamond" panose="02020404030301010803" pitchFamily="18" charset="0"/>
              </a:rPr>
              <a:t>NVC（非暴力沟通） 帮助一个人根据自己的感知、感受 和需求来回应他人，而不是使用习惯性或自动反应。</a:t>
            </a:r>
          </a:p>
          <a:p>
            <a:pPr eaLnBrk="1" hangingPunct="1">
              <a:lnSpc>
                <a:spcPct val="90000"/>
              </a:lnSpc>
              <a:buFont typeface="Wingdings" panose="05000000000000000000" pitchFamily="2" charset="2"/>
              <a:buNone/>
            </a:pPr>
            <a:endParaRPr lang="en-US" altLang="en-US" sz="1900" b="1">
              <a:solidFill>
                <a:schemeClr val="hlink"/>
              </a:solidFill>
              <a:latin typeface="Garamond" panose="02020404030301010803" pitchFamily="18" charset="0"/>
            </a:endParaRPr>
          </a:p>
          <a:p>
            <a:pPr eaLnBrk="1" hangingPunct="1">
              <a:lnSpc>
                <a:spcPct val="90000"/>
              </a:lnSpc>
            </a:pPr>
            <a:r>
              <a:rPr lang="en-US" altLang="en-US" sz="1900" b="1">
                <a:solidFill>
                  <a:schemeClr val="hlink"/>
                </a:solidFill>
                <a:latin typeface="Garamond" panose="02020404030301010803" pitchFamily="18" charset="0"/>
              </a:rPr>
              <a:t>NVC（非暴力沟通） 帮助一个人诚实、清晰，同时给予他人尊重和同理心的关注。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3F6D7CF-A5A8-16ED-0839-3E0C9B33A383}"/>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NVC（非暴力沟通） 的基本假设</a:t>
            </a:r>
          </a:p>
        </p:txBody>
      </p:sp>
      <p:sp>
        <p:nvSpPr>
          <p:cNvPr id="40963" name="Rectangle 3">
            <a:extLst>
              <a:ext uri="{FF2B5EF4-FFF2-40B4-BE49-F238E27FC236}">
                <a16:creationId xmlns:a16="http://schemas.microsoft.com/office/drawing/2014/main" id="{9F5CE401-DF49-027D-4EB8-A25B09E2799D}"/>
              </a:ext>
            </a:extLst>
          </p:cNvPr>
          <p:cNvSpPr>
            <a:spLocks noGrp="1" noChangeArrowheads="1"/>
          </p:cNvSpPr>
          <p:nvPr>
            <p:ph type="body" idx="1"/>
          </p:nvPr>
        </p:nvSpPr>
        <p:spPr>
          <a:xfrm>
            <a:off x="685800" y="1524000"/>
            <a:ext cx="8305800" cy="4495800"/>
          </a:xfrm>
        </p:spPr>
        <p:txBody>
          <a:bodyPr/>
          <a:lstStyle/>
          <a:p>
            <a:pPr eaLnBrk="1" hangingPunct="1">
              <a:lnSpc>
                <a:spcPct val="90000"/>
              </a:lnSpc>
            </a:pPr>
            <a:r>
              <a:rPr lang="en-US" altLang="en-US" sz="2100" b="1">
                <a:solidFill>
                  <a:schemeClr val="hlink"/>
                </a:solidFill>
                <a:latin typeface="Garamond" panose="02020404030301010803" pitchFamily="18" charset="0"/>
              </a:rPr>
              <a:t>我们（人类）自然知道如何彼此相处。</a:t>
            </a:r>
          </a:p>
          <a:p>
            <a:pPr eaLnBrk="1" hangingPunct="1">
              <a:lnSpc>
                <a:spcPct val="90000"/>
              </a:lnSpc>
            </a:pPr>
            <a:endParaRPr lang="en-US" altLang="en-US" sz="2100" b="1">
              <a:solidFill>
                <a:schemeClr val="hlink"/>
              </a:solidFill>
              <a:latin typeface="Garamond" panose="02020404030301010803" pitchFamily="18" charset="0"/>
            </a:endParaRPr>
          </a:p>
          <a:p>
            <a:pPr eaLnBrk="1" hangingPunct="1">
              <a:lnSpc>
                <a:spcPct val="90000"/>
              </a:lnSpc>
            </a:pPr>
            <a:r>
              <a:rPr lang="en-US" altLang="en-US" sz="2100" b="1">
                <a:solidFill>
                  <a:schemeClr val="hlink"/>
                </a:solidFill>
                <a:latin typeface="Garamond" panose="02020404030301010803" pitchFamily="18" charset="0"/>
              </a:rPr>
              <a:t>在文化上，我们有互相防御、退缩、攻击、批评和抵制的习惯，这使我们的语言缺乏同情心。</a:t>
            </a:r>
          </a:p>
          <a:p>
            <a:pPr eaLnBrk="1" hangingPunct="1">
              <a:lnSpc>
                <a:spcPct val="90000"/>
              </a:lnSpc>
            </a:pPr>
            <a:endParaRPr lang="en-US" altLang="en-US" sz="2100" b="1">
              <a:solidFill>
                <a:schemeClr val="hlink"/>
              </a:solidFill>
              <a:latin typeface="Garamond" panose="02020404030301010803" pitchFamily="18" charset="0"/>
            </a:endParaRPr>
          </a:p>
          <a:p>
            <a:pPr eaLnBrk="1" hangingPunct="1">
              <a:lnSpc>
                <a:spcPct val="90000"/>
              </a:lnSpc>
            </a:pPr>
            <a:r>
              <a:rPr lang="en-US" altLang="en-US" sz="2100" b="1">
                <a:solidFill>
                  <a:schemeClr val="hlink"/>
                </a:solidFill>
                <a:latin typeface="Garamond" panose="02020404030301010803" pitchFamily="18" charset="0"/>
              </a:rPr>
              <a:t>在文化上，我们将注意力和沟通集中在我们不太可能得到我们想要的东西的地方。</a:t>
            </a:r>
          </a:p>
          <a:p>
            <a:pPr eaLnBrk="1" hangingPunct="1">
              <a:lnSpc>
                <a:spcPct val="90000"/>
              </a:lnSpc>
            </a:pPr>
            <a:endParaRPr lang="en-US" altLang="en-US" sz="2100" b="1">
              <a:solidFill>
                <a:schemeClr val="hlink"/>
              </a:solidFill>
              <a:latin typeface="Garamond" panose="02020404030301010803" pitchFamily="18" charset="0"/>
            </a:endParaRPr>
          </a:p>
          <a:p>
            <a:pPr eaLnBrk="1" hangingPunct="1">
              <a:lnSpc>
                <a:spcPct val="90000"/>
              </a:lnSpc>
            </a:pPr>
            <a:r>
              <a:rPr lang="en-US" altLang="en-US" sz="2100" b="1">
                <a:solidFill>
                  <a:schemeClr val="hlink"/>
                </a:solidFill>
                <a:latin typeface="Garamond" panose="02020404030301010803" pitchFamily="18" charset="0"/>
              </a:rPr>
              <a:t>发自内心的给予可以丰富给予者和接受者的生活。</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2" grpId="0"/>
      <p:bldP spid="40963"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0F12650-6210-5B51-974E-B152FE55EFDD}"/>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NVC（非暴力沟通） 试图避免什么</a:t>
            </a:r>
          </a:p>
        </p:txBody>
      </p:sp>
      <p:sp>
        <p:nvSpPr>
          <p:cNvPr id="86019" name="Rectangle 3">
            <a:extLst>
              <a:ext uri="{FF2B5EF4-FFF2-40B4-BE49-F238E27FC236}">
                <a16:creationId xmlns:a16="http://schemas.microsoft.com/office/drawing/2014/main" id="{3CED555A-BB77-0631-DD71-DEA1285975C4}"/>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sz="2500" i="1">
                <a:solidFill>
                  <a:schemeClr val="hlink"/>
                </a:solidFill>
                <a:latin typeface="Garamond" panose="02020404030301010803" pitchFamily="18" charset="0"/>
              </a:rPr>
              <a:t>“</a:t>
            </a:r>
            <a:r>
              <a:rPr lang="en-US" altLang="en-US" sz="2500">
                <a:solidFill>
                  <a:schemeClr val="hlink"/>
                </a:solidFill>
                <a:latin typeface="Garamond" panose="02020404030301010803" pitchFamily="18" charset="0"/>
              </a:rPr>
              <a:t/>
            </a:r>
            <a:r>
              <a:rPr lang="en-US" altLang="en-US">
                <a:solidFill>
                  <a:schemeClr val="hlink"/>
                </a:solidFill>
                <a:latin typeface="Garamond" panose="02020404030301010803" pitchFamily="18" charset="0"/>
              </a:rPr>
              <a:t>我已经确定了特定的语言和交流形式，我相信这些形式会导致我们对彼此和自己采取暴力行为。我使用“疏远生活的</a:t>
            </a:r>
            <a:r>
              <a:rPr lang="en-US" altLang="en-US" b="1" u="sng">
                <a:solidFill>
                  <a:schemeClr val="hlink"/>
                </a:solidFill>
                <a:latin typeface="Garamond" panose="02020404030301010803" pitchFamily="18" charset="0"/>
              </a:rPr>
              <a:t>交流”这个词。”—</a:t>
            </a:r>
            <a:r>
              <a:rPr lang="en-US" altLang="en-US">
                <a:solidFill>
                  <a:schemeClr val="hlink"/>
                </a:solidFill>
                <a:latin typeface="Garamond" panose="02020404030301010803" pitchFamily="18" charset="0"/>
              </a:rPr>
              <a:t>—罗森伯格</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DF450F7-9497-AF5E-5955-F7AD64CD999A}"/>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疏远生活的沟通</a:t>
            </a:r>
            <a:br>
              <a:rPr lang="en-US" altLang="en-US" sz="3200"/>
            </a:br>
            <a:r>
              <a:rPr lang="en-US" altLang="en-US" sz="3200">
                <a:solidFill>
                  <a:schemeClr val="hlink"/>
                </a:solidFill>
                <a:latin typeface="Garamond" panose="02020404030301010803" pitchFamily="18" charset="0"/>
              </a:rPr>
              <a:t>道德 评判</a:t>
            </a:r>
            <a:r>
              <a:rPr lang="en-US" altLang="en-US" sz="3200"/>
              <a:t/>
            </a:r>
          </a:p>
        </p:txBody>
      </p:sp>
      <p:sp>
        <p:nvSpPr>
          <p:cNvPr id="47107" name="Rectangle 3">
            <a:extLst>
              <a:ext uri="{FF2B5EF4-FFF2-40B4-BE49-F238E27FC236}">
                <a16:creationId xmlns:a16="http://schemas.microsoft.com/office/drawing/2014/main" id="{F32EDA29-2171-FEC7-8F32-1BCC8F8C79CC}"/>
              </a:ext>
            </a:extLst>
          </p:cNvPr>
          <p:cNvSpPr>
            <a:spLocks noGrp="1" noChangeArrowheads="1"/>
          </p:cNvSpPr>
          <p:nvPr>
            <p:ph type="body" idx="1"/>
          </p:nvPr>
        </p:nvSpPr>
        <p:spPr/>
        <p:txBody>
          <a:bodyPr/>
          <a:lstStyle/>
          <a:p>
            <a:pPr algn="ctr" eaLnBrk="1" hangingPunct="1">
              <a:lnSpc>
                <a:spcPct val="80000"/>
              </a:lnSpc>
              <a:buFont typeface="Wingdings" panose="05000000000000000000" pitchFamily="2" charset="2"/>
              <a:buNone/>
            </a:pPr>
            <a:r>
              <a:rPr lang="en-US" altLang="en-US" sz="2100" b="1">
                <a:solidFill>
                  <a:schemeClr val="hlink"/>
                </a:solidFill>
                <a:latin typeface="Garamond" panose="02020404030301010803" pitchFamily="18" charset="0"/>
              </a:rPr>
              <a:t>意味着行为不符合我们价值观的人的错误或邪恶行为。</a:t>
            </a:r>
          </a:p>
          <a:p>
            <a:pPr eaLnBrk="1" hangingPunct="1">
              <a:lnSpc>
                <a:spcPct val="80000"/>
              </a:lnSpc>
              <a:buFont typeface="Wingdings" panose="05000000000000000000" pitchFamily="2" charset="2"/>
              <a:buNone/>
            </a:pPr>
            <a:r>
              <a:rPr lang="en-US" altLang="en-US" sz="2100" b="1">
                <a:solidFill>
                  <a:schemeClr val="hlink"/>
                </a:solidFill>
                <a:latin typeface="Garamond" panose="02020404030301010803" pitchFamily="18" charset="0"/>
              </a:rPr>
              <a:t>示例：</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指责</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侮辱</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放下</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标签</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批评</a:t>
            </a:r>
          </a:p>
          <a:p>
            <a:pPr lvl="1" eaLnBrk="1" hangingPunct="1">
              <a:lnSpc>
                <a:spcPct val="80000"/>
              </a:lnSpc>
            </a:pPr>
            <a:r>
              <a:rPr lang="en-US" altLang="en-US" sz="1900" b="1">
                <a:solidFill>
                  <a:schemeClr val="hlink"/>
                </a:solidFill>
                <a:latin typeface="Garamond" panose="02020404030301010803" pitchFamily="18" charset="0"/>
                <a:ea typeface="ＭＳ Ｐゴシック" panose="020B0600070205080204" pitchFamily="34" charset="-128"/>
              </a:rPr>
              <a:t>比较</a:t>
            </a:r>
          </a:p>
          <a:p>
            <a:pPr eaLnBrk="1" hangingPunct="1">
              <a:lnSpc>
                <a:spcPct val="80000"/>
              </a:lnSpc>
            </a:pPr>
            <a:r>
              <a:rPr lang="en-US" altLang="en-US" sz="2100" b="1">
                <a:solidFill>
                  <a:schemeClr val="hlink"/>
                </a:solidFill>
                <a:latin typeface="Garamond" panose="02020404030301010803" pitchFamily="18" charset="0"/>
              </a:rPr>
              <a:t>* 所有这些都让我们陷入了一个“正确”的世界</a:t>
            </a:r>
          </a:p>
          <a:p>
            <a:pPr eaLnBrk="1" hangingPunct="1">
              <a:lnSpc>
                <a:spcPct val="80000"/>
              </a:lnSpc>
            </a:pPr>
            <a:r>
              <a:rPr lang="en-US" altLang="en-US" sz="2100" b="1">
                <a:solidFill>
                  <a:schemeClr val="hlink"/>
                </a:solidFill>
                <a:latin typeface="Garamond" panose="02020404030301010803" pitchFamily="18" charset="0"/>
              </a:rPr>
              <a:t>对别人的分析，其实也是我们自己的需要和价值观的表达。 （第 16 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DFADC7C-D950-B0E9-21B4-54A78A221F7B}"/>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疏远生活的沟</a:t>
            </a:r>
            <a:br>
              <a:rPr lang="en-US" altLang="en-US" sz="3200"/>
            </a:br>
            <a:r>
              <a:rPr lang="en-US" altLang="en-US" sz="3200">
                <a:solidFill>
                  <a:schemeClr val="hlink"/>
                </a:solidFill>
                <a:latin typeface="Garamond" panose="02020404030301010803" pitchFamily="18" charset="0"/>
              </a:rPr>
              <a:t>通拒绝责任</a:t>
            </a:r>
          </a:p>
        </p:txBody>
      </p:sp>
      <p:sp>
        <p:nvSpPr>
          <p:cNvPr id="48131" name="Rectangle 3">
            <a:extLst>
              <a:ext uri="{FF2B5EF4-FFF2-40B4-BE49-F238E27FC236}">
                <a16:creationId xmlns:a16="http://schemas.microsoft.com/office/drawing/2014/main" id="{4C3D4E27-07FA-1FC0-6778-ECD4F50234F7}"/>
              </a:ext>
            </a:extLst>
          </p:cNvPr>
          <p:cNvSpPr>
            <a:spLocks noGrp="1" noChangeArrowheads="1"/>
          </p:cNvSpPr>
          <p:nvPr>
            <p:ph type="body" idx="1"/>
          </p:nvPr>
        </p:nvSpPr>
        <p:spPr/>
        <p:txBody>
          <a:bodyPr/>
          <a:lstStyle/>
          <a:p>
            <a:pPr eaLnBrk="1" hangingPunct="1">
              <a:lnSpc>
                <a:spcPct val="80000"/>
              </a:lnSpc>
            </a:pPr>
            <a:r>
              <a:rPr lang="en-US" altLang="en-US" sz="2500">
                <a:solidFill>
                  <a:schemeClr val="hlink"/>
                </a:solidFill>
              </a:rPr>
              <a:t>“当沟通模煳了我们对自己的思想、感受和行为负责的意识时，它就</a:t>
            </a:r>
            <a:r>
              <a:rPr lang="en-US" altLang="en-US" sz="2500" u="sng">
                <a:solidFill>
                  <a:schemeClr val="hlink"/>
                </a:solidFill>
              </a:rPr>
              <a:t>会使</a:t>
            </a:r>
            <a:r>
              <a:rPr lang="en-US" altLang="en-US" sz="2500">
                <a:solidFill>
                  <a:schemeClr val="hlink"/>
                </a:solidFill>
              </a:rPr>
              <a:t>生</a:t>
            </a:r>
            <a:r>
              <a:rPr lang="en-US" altLang="en-US" sz="2500" u="sng">
                <a:solidFill>
                  <a:schemeClr val="hlink"/>
                </a:solidFill>
              </a:rPr>
              <a:t>活变</a:t>
            </a:r>
            <a:r>
              <a:rPr lang="en-US" altLang="en-US" sz="2500">
                <a:solidFill>
                  <a:schemeClr val="hlink"/>
                </a:solidFill>
              </a:rPr>
              <a:t>得疏</a:t>
            </a:r>
            <a:r>
              <a:rPr lang="en-US" altLang="en-US" sz="2500" u="sng">
                <a:solidFill>
                  <a:schemeClr val="hlink"/>
                </a:solidFill>
              </a:rPr>
              <a:t>远。</a:t>
            </a:r>
            <a:r>
              <a:rPr lang="en-US" altLang="en-US" sz="2500">
                <a:solidFill>
                  <a:schemeClr val="hlink"/>
                </a:solidFill>
              </a:rPr>
              <a:t>”</a:t>
            </a:r>
          </a:p>
          <a:p>
            <a:pPr eaLnBrk="1" hangingPunct="1">
              <a:lnSpc>
                <a:spcPct val="80000"/>
              </a:lnSpc>
            </a:pPr>
            <a:endParaRPr lang="en-US" altLang="en-US" sz="2500"/>
          </a:p>
          <a:p>
            <a:pPr eaLnBrk="1" hangingPunct="1">
              <a:lnSpc>
                <a:spcPct val="80000"/>
              </a:lnSpc>
            </a:pPr>
            <a:r>
              <a:rPr lang="en-US" altLang="en-US" sz="2500">
                <a:solidFill>
                  <a:schemeClr val="hlink"/>
                </a:solidFill>
              </a:rPr>
              <a:t>沟通方式：</a:t>
            </a:r>
          </a:p>
          <a:p>
            <a:pPr lvl="1" eaLnBrk="1" hangingPunct="1">
              <a:lnSpc>
                <a:spcPct val="80000"/>
              </a:lnSpc>
            </a:pPr>
            <a:r>
              <a:rPr lang="en-US" altLang="en-US" sz="2100">
                <a:solidFill>
                  <a:schemeClr val="hlink"/>
                </a:solidFill>
                <a:ea typeface="ＭＳ Ｐゴシック" panose="020B0600070205080204" pitchFamily="34" charset="-128"/>
              </a:rPr>
              <a:t>“必须”</a:t>
            </a:r>
          </a:p>
          <a:p>
            <a:pPr lvl="1" eaLnBrk="1" hangingPunct="1">
              <a:lnSpc>
                <a:spcPct val="80000"/>
              </a:lnSpc>
            </a:pPr>
            <a:r>
              <a:rPr lang="en-US" altLang="en-US" sz="2100">
                <a:solidFill>
                  <a:schemeClr val="hlink"/>
                </a:solidFill>
                <a:ea typeface="ＭＳ Ｐゴシック" panose="020B0600070205080204" pitchFamily="34" charset="-128"/>
              </a:rPr>
              <a:t>“让我感到”/“你让我感到内疚”</a:t>
            </a:r>
          </a:p>
          <a:p>
            <a:pPr lvl="1" eaLnBrk="1" hangingPunct="1">
              <a:lnSpc>
                <a:spcPct val="80000"/>
              </a:lnSpc>
            </a:pPr>
            <a:endParaRPr lang="en-US" altLang="en-US" sz="2100">
              <a:solidFill>
                <a:schemeClr val="hlink"/>
              </a:solidFill>
              <a:ea typeface="ＭＳ Ｐゴシック" panose="020B0600070205080204" pitchFamily="34" charset="-128"/>
            </a:endParaRPr>
          </a:p>
          <a:p>
            <a:pPr eaLnBrk="1" hangingPunct="1">
              <a:lnSpc>
                <a:spcPct val="80000"/>
              </a:lnSpc>
            </a:pPr>
            <a:r>
              <a:rPr lang="en-US" altLang="en-US" sz="2500">
                <a:solidFill>
                  <a:schemeClr val="hlink"/>
                </a:solidFill>
              </a:rPr>
              <a:t>“当我们没有意识到我们对自己的行为、思考和感受的责任时，我们就是危险的”（第 21 页）</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7982A2F2-2AD1-04C0-34D4-AD75CB9E7D84}"/>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疏远生活的沟</a:t>
            </a:r>
            <a:br>
              <a:rPr lang="en-US" altLang="en-US" sz="3200"/>
            </a:br>
            <a:r>
              <a:rPr lang="en-US" altLang="en-US" sz="3200"/>
              <a:t>通拒绝责任</a:t>
            </a:r>
            <a:br>
              <a:rPr lang="en-US" altLang="en-US" sz="3200"/>
            </a:br>
            <a:r>
              <a:rPr lang="en-US" altLang="en-US" sz="1600" b="1">
                <a:latin typeface="Garamond" panose="02020404030301010803" pitchFamily="18" charset="0"/>
              </a:rPr>
              <a:t>常见表达示例：</a:t>
            </a:r>
            <a:r>
              <a:rPr lang="en-US" altLang="en-US" sz="1600">
                <a:solidFill>
                  <a:schemeClr val="hlink"/>
                </a:solidFill>
                <a:latin typeface="Garamond" panose="02020404030301010803" pitchFamily="18" charset="0"/>
              </a:rPr>
              <a:t/>
            </a:r>
            <a:endParaRPr lang="en-US" altLang="en-US" sz="3200">
              <a:solidFill>
                <a:schemeClr val="hlink"/>
              </a:solidFill>
            </a:endParaRPr>
          </a:p>
        </p:txBody>
      </p:sp>
      <p:sp>
        <p:nvSpPr>
          <p:cNvPr id="87043" name="Rectangle 3">
            <a:extLst>
              <a:ext uri="{FF2B5EF4-FFF2-40B4-BE49-F238E27FC236}">
                <a16:creationId xmlns:a16="http://schemas.microsoft.com/office/drawing/2014/main" id="{61E8209F-4981-1797-F5A2-862F073E70EA}"/>
              </a:ext>
            </a:extLst>
          </p:cNvPr>
          <p:cNvSpPr>
            <a:spLocks noGrp="1" noChangeArrowheads="1"/>
          </p:cNvSpPr>
          <p:nvPr>
            <p:ph type="body" sz="half" idx="1"/>
          </p:nvPr>
        </p:nvSpPr>
        <p:spPr>
          <a:xfrm>
            <a:off x="1370013" y="1827213"/>
            <a:ext cx="3589337" cy="4114800"/>
          </a:xfrm>
        </p:spPr>
        <p:txBody>
          <a:bodyPr/>
          <a:lstStyle/>
          <a:p>
            <a:pPr eaLnBrk="1" hangingPunct="1"/>
            <a:r>
              <a:rPr lang="en-US" altLang="en-US" sz="2100">
                <a:solidFill>
                  <a:schemeClr val="hlink"/>
                </a:solidFill>
                <a:latin typeface="Garamond" panose="02020404030301010803" pitchFamily="18" charset="0"/>
              </a:rPr>
              <a:t>模煳的非个人力量</a:t>
            </a:r>
          </a:p>
          <a:p>
            <a:pPr eaLnBrk="1" hangingPunct="1"/>
            <a:endParaRPr lang="en-US" altLang="en-US" sz="2100">
              <a:solidFill>
                <a:schemeClr val="hlink"/>
              </a:solidFill>
              <a:latin typeface="Garamond" panose="02020404030301010803" pitchFamily="18" charset="0"/>
            </a:endParaRPr>
          </a:p>
          <a:p>
            <a:pPr eaLnBrk="1" hangingPunct="1"/>
            <a:r>
              <a:rPr lang="en-US" altLang="en-US" sz="2100">
                <a:solidFill>
                  <a:schemeClr val="hlink"/>
                </a:solidFill>
                <a:latin typeface="Garamond" panose="02020404030301010803" pitchFamily="18" charset="0"/>
              </a:rPr>
              <a:t>权威的规定</a:t>
            </a:r>
          </a:p>
          <a:p>
            <a:pPr eaLnBrk="1" hangingPunct="1"/>
            <a:endParaRPr lang="en-US" altLang="en-US" sz="2100">
              <a:solidFill>
                <a:schemeClr val="hlink"/>
              </a:solidFill>
              <a:latin typeface="Garamond" panose="02020404030301010803" pitchFamily="18" charset="0"/>
            </a:endParaRPr>
          </a:p>
          <a:p>
            <a:pPr eaLnBrk="1" hangingPunct="1"/>
            <a:endParaRPr lang="en-US" altLang="en-US" sz="2100">
              <a:solidFill>
                <a:schemeClr val="hlink"/>
              </a:solidFill>
              <a:latin typeface="Garamond" panose="02020404030301010803" pitchFamily="18" charset="0"/>
            </a:endParaRPr>
          </a:p>
          <a:p>
            <a:pPr eaLnBrk="1" hangingPunct="1"/>
            <a:r>
              <a:rPr lang="en-US" altLang="en-US" sz="2100">
                <a:solidFill>
                  <a:schemeClr val="hlink"/>
                </a:solidFill>
                <a:latin typeface="Garamond" panose="02020404030301010803" pitchFamily="18" charset="0"/>
              </a:rPr>
              <a:t>机构政策、规则和条例</a:t>
            </a:r>
          </a:p>
          <a:p>
            <a:pPr eaLnBrk="1" hangingPunct="1"/>
            <a:endParaRPr lang="en-US" altLang="en-US" sz="2100">
              <a:solidFill>
                <a:schemeClr val="hlink"/>
              </a:solidFill>
              <a:latin typeface="Garamond" panose="02020404030301010803" pitchFamily="18" charset="0"/>
            </a:endParaRPr>
          </a:p>
          <a:p>
            <a:pPr eaLnBrk="1" hangingPunct="1"/>
            <a:r>
              <a:rPr lang="en-US" altLang="en-US" sz="2100">
                <a:solidFill>
                  <a:schemeClr val="hlink"/>
                </a:solidFill>
                <a:latin typeface="Garamond" panose="02020404030301010803" pitchFamily="18" charset="0"/>
              </a:rPr>
              <a:t>无法控制的冲</a:t>
            </a:r>
            <a:r>
              <a:rPr lang="en-US" altLang="en-US" sz="2100"/>
              <a:t>动</a:t>
            </a:r>
          </a:p>
        </p:txBody>
      </p:sp>
      <p:sp>
        <p:nvSpPr>
          <p:cNvPr id="87044" name="Rectangle 4">
            <a:extLst>
              <a:ext uri="{FF2B5EF4-FFF2-40B4-BE49-F238E27FC236}">
                <a16:creationId xmlns:a16="http://schemas.microsoft.com/office/drawing/2014/main" id="{86B583E2-332B-F9CB-0897-114ED506A31C}"/>
              </a:ext>
            </a:extLst>
          </p:cNvPr>
          <p:cNvSpPr>
            <a:spLocks noGrp="1" noChangeArrowheads="1"/>
          </p:cNvSpPr>
          <p:nvPr>
            <p:ph type="body" sz="half" idx="2"/>
          </p:nvPr>
        </p:nvSpPr>
        <p:spPr>
          <a:xfrm>
            <a:off x="5094288" y="1827213"/>
            <a:ext cx="3589337" cy="4114800"/>
          </a:xfrm>
        </p:spPr>
        <p:txBody>
          <a:bodyPr/>
          <a:lstStyle/>
          <a:p>
            <a:pPr eaLnBrk="1" hangingPunct="1"/>
            <a:r>
              <a:rPr lang="en-US" altLang="en-US" sz="2100">
                <a:solidFill>
                  <a:schemeClr val="hlink"/>
                </a:solidFill>
                <a:latin typeface="Garamond" panose="02020404030301010803" pitchFamily="18" charset="0"/>
              </a:rPr>
              <a:t>“我打扫房间是因为我不得不这么做”</a:t>
            </a:r>
          </a:p>
          <a:p>
            <a:pPr eaLnBrk="1" hangingPunct="1"/>
            <a:r>
              <a:rPr lang="en-US" altLang="en-US" sz="2100">
                <a:solidFill>
                  <a:schemeClr val="hlink"/>
                </a:solidFill>
                <a:latin typeface="Garamond" panose="02020404030301010803" pitchFamily="18" charset="0"/>
              </a:rPr>
              <a:t>“我撒谎是因为我的老板告诉我的”</a:t>
            </a:r>
          </a:p>
          <a:p>
            <a:pPr eaLnBrk="1" hangingPunct="1"/>
            <a:endParaRPr lang="en-US" altLang="en-US" sz="2100">
              <a:solidFill>
                <a:schemeClr val="hlink"/>
              </a:solidFill>
              <a:latin typeface="Garamond" panose="02020404030301010803" pitchFamily="18" charset="0"/>
            </a:endParaRPr>
          </a:p>
          <a:p>
            <a:pPr eaLnBrk="1" hangingPunct="1"/>
            <a:r>
              <a:rPr lang="en-US" altLang="en-US" sz="2100">
                <a:solidFill>
                  <a:schemeClr val="hlink"/>
                </a:solidFill>
                <a:latin typeface="Garamond" panose="02020404030301010803" pitchFamily="18" charset="0"/>
              </a:rPr>
              <a:t>“我必须让你走，因为这是政策。”</a:t>
            </a:r>
          </a:p>
          <a:p>
            <a:pPr eaLnBrk="1" hangingPunct="1"/>
            <a:endParaRPr lang="en-US" altLang="en-US" sz="2100">
              <a:solidFill>
                <a:schemeClr val="hlink"/>
              </a:solidFill>
              <a:latin typeface="Garamond" panose="02020404030301010803" pitchFamily="18" charset="0"/>
            </a:endParaRPr>
          </a:p>
          <a:p>
            <a:pPr eaLnBrk="1" hangingPunct="1"/>
            <a:r>
              <a:rPr lang="en-US" altLang="en-US" sz="2100">
                <a:solidFill>
                  <a:schemeClr val="hlink"/>
                </a:solidFill>
                <a:latin typeface="Garamond" panose="02020404030301010803" pitchFamily="18" charset="0"/>
              </a:rPr>
              <a:t>“我被吃棒棒糖的冲动征服了”</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A3204346-4E56-18D5-BA7E-9DC79F4D9103}"/>
              </a:ext>
            </a:extLst>
          </p:cNvPr>
          <p:cNvSpPr>
            <a:spLocks noGrp="1" noChangeArrowheads="1"/>
          </p:cNvSpPr>
          <p:nvPr>
            <p:ph type="title"/>
          </p:nvPr>
        </p:nvSpPr>
        <p:spPr/>
        <p:txBody>
          <a:bodyPr/>
          <a:lstStyle/>
          <a:p>
            <a:pPr algn="ctr" eaLnBrk="1" hangingPunct="1"/>
            <a:r>
              <a:rPr lang="en-US" altLang="en-US" sz="4000">
                <a:latin typeface="Freestyle Script" panose="030804020302050B0404" pitchFamily="66" charset="0"/>
              </a:rPr>
              <a:t>疏远生活的沟通</a:t>
            </a:r>
            <a:r>
              <a:rPr lang="en-US" altLang="en-US" sz="3200"/>
              <a:t/>
            </a:r>
            <a:br>
              <a:rPr lang="en-US" altLang="en-US" sz="3200"/>
            </a:br>
            <a:r>
              <a:rPr lang="en-US" altLang="en-US" sz="2400">
                <a:solidFill>
                  <a:schemeClr val="hlink"/>
                </a:solidFill>
                <a:latin typeface="Garamond" panose="02020404030301010803" pitchFamily="18" charset="0"/>
              </a:rPr>
              <a:t>沟通欲望为要求</a:t>
            </a:r>
          </a:p>
        </p:txBody>
      </p:sp>
      <p:sp>
        <p:nvSpPr>
          <p:cNvPr id="49155" name="Rectangle 3">
            <a:extLst>
              <a:ext uri="{FF2B5EF4-FFF2-40B4-BE49-F238E27FC236}">
                <a16:creationId xmlns:a16="http://schemas.microsoft.com/office/drawing/2014/main" id="{9BCF2A82-058A-6137-1CD3-833DCB65FB6B}"/>
              </a:ext>
            </a:extLst>
          </p:cNvPr>
          <p:cNvSpPr>
            <a:spLocks noGrp="1" noChangeArrowheads="1"/>
          </p:cNvSpPr>
          <p:nvPr>
            <p:ph type="body" idx="1"/>
          </p:nvPr>
        </p:nvSpPr>
        <p:spPr/>
        <p:txBody>
          <a:bodyPr/>
          <a:lstStyle/>
          <a:p>
            <a:pPr algn="ctr" eaLnBrk="1" hangingPunct="1">
              <a:buFont typeface="Wingdings" panose="05000000000000000000" pitchFamily="2" charset="2"/>
              <a:buNone/>
            </a:pPr>
            <a:endParaRPr lang="en-US" altLang="en-US" sz="2100">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sz="2100" b="1">
                <a:solidFill>
                  <a:schemeClr val="hlink"/>
                </a:solidFill>
                <a:latin typeface="Garamond" panose="02020404030301010803" pitchFamily="18" charset="0"/>
              </a:rPr>
              <a:t>要求 明确或含蓄地威胁听众，如果他们不遵守，就会受到 指责 的惩罚。</a:t>
            </a:r>
            <a:r>
              <a:rPr lang="en-US" altLang="en-US" b="1">
                <a:solidFill>
                  <a:schemeClr val="hlink"/>
                </a:solidFill>
                <a:latin typeface="Garamond" panose="02020404030301010803" pitchFamily="18" charset="0"/>
              </a:rPr>
              <a:t/>
            </a:r>
          </a:p>
          <a:p>
            <a:pPr algn="ctr" eaLnBrk="1" hangingPunct="1">
              <a:buFont typeface="Wingdings" panose="05000000000000000000" pitchFamily="2" charset="2"/>
              <a:buNone/>
            </a:pPr>
            <a:endParaRPr lang="en-US" altLang="en-US" b="1">
              <a:solidFill>
                <a:schemeClr val="hlink"/>
              </a:solidFill>
              <a:latin typeface="Garamond" panose="020204040303010108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761E209-3D4F-B38F-88ED-347B4C07F524}"/>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疏远生活的沟通某</a:t>
            </a:r>
            <a:br>
              <a:rPr lang="en-US" altLang="en-US" sz="3200">
                <a:latin typeface="Freestyle Script" panose="030804020302050B0404" pitchFamily="66" charset="0"/>
              </a:rPr>
            </a:br>
            <a:r>
              <a:rPr lang="en-US" altLang="en-US" sz="2000" b="1">
                <a:solidFill>
                  <a:schemeClr val="hlink"/>
                </a:solidFill>
                <a:latin typeface="Garamond" panose="02020404030301010803" pitchFamily="18" charset="0"/>
              </a:rPr>
              <a:t>些行为值得奖励/惩罚</a:t>
            </a:r>
            <a:r>
              <a:rPr lang="en-US" altLang="en-US" sz="3200"/>
              <a:t/>
            </a:r>
          </a:p>
        </p:txBody>
      </p:sp>
      <p:sp>
        <p:nvSpPr>
          <p:cNvPr id="91139" name="Rectangle 3">
            <a:extLst>
              <a:ext uri="{FF2B5EF4-FFF2-40B4-BE49-F238E27FC236}">
                <a16:creationId xmlns:a16="http://schemas.microsoft.com/office/drawing/2014/main" id="{0BF3454C-CCF8-4742-CFE3-AC30102C3BEC}"/>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这可以用“当之无愧”这个词来表达。</a:t>
            </a:r>
          </a:p>
          <a:p>
            <a:pPr lvl="1" eaLnBrk="1" hangingPunct="1"/>
            <a:r>
              <a:rPr lang="en-US" altLang="en-US">
                <a:solidFill>
                  <a:schemeClr val="hlink"/>
                </a:solidFill>
                <a:latin typeface="Garamond" panose="02020404030301010803" pitchFamily="18" charset="0"/>
                <a:ea typeface="ＭＳ Ｐゴシック" panose="020B0600070205080204" pitchFamily="34" charset="-128"/>
              </a:rPr>
              <a:t>“根据他的所作所为，他应该受到惩罚！”</a:t>
            </a:r>
          </a:p>
          <a:p>
            <a:pPr lvl="1" eaLnBrk="1" hangingPunct="1"/>
            <a:r>
              <a:rPr lang="en-US" altLang="en-US">
                <a:solidFill>
                  <a:schemeClr val="hlink"/>
                </a:solidFill>
                <a:latin typeface="Garamond" panose="02020404030301010803" pitchFamily="18" charset="0"/>
                <a:ea typeface="ＭＳ Ｐゴシック" panose="020B0600070205080204" pitchFamily="34" charset="-128"/>
              </a:rPr>
              <a:t>或者“因为他所做的事，他应该得到奖励！”</a:t>
            </a:r>
          </a:p>
          <a:p>
            <a:pPr lvl="1" eaLnBrk="1" hangingPunct="1"/>
            <a:endParaRPr lang="en-US" altLang="en-US">
              <a:solidFill>
                <a:schemeClr val="hlink"/>
              </a:solidFill>
              <a:latin typeface="Garamond" panose="02020404030301010803" pitchFamily="18" charset="0"/>
              <a:ea typeface="ＭＳ Ｐゴシック" panose="020B0600070205080204" pitchFamily="34" charset="-128"/>
            </a:endParaRPr>
          </a:p>
          <a:p>
            <a:pPr eaLnBrk="1" hangingPunct="1"/>
            <a:r>
              <a:rPr lang="en-US" altLang="en-US">
                <a:solidFill>
                  <a:schemeClr val="hlink"/>
                </a:solidFill>
                <a:latin typeface="Garamond" panose="02020404030301010803" pitchFamily="18" charset="0"/>
              </a:rPr>
              <a:t>“我相信人们的改变符合每个人的利益，不是为了避免惩罚，而是因为他们认为改变对自己有利。”——</a:t>
            </a:r>
            <a:r>
              <a:rPr lang="en-US" altLang="en-US">
                <a:solidFill>
                  <a:schemeClr val="hlink"/>
                </a:solidFill>
              </a:rPr>
              <a:t>罗</a:t>
            </a:r>
            <a:r>
              <a:rPr lang="en-US" altLang="en-US">
                <a:solidFill>
                  <a:schemeClr val="hlink"/>
                </a:solidFill>
                <a:latin typeface="Garamond" panose="02020404030301010803" pitchFamily="18" charset="0"/>
              </a:rPr>
              <a:t>森伯格</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FD5610E-D37D-863D-F12A-CCCE7359DF46}"/>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罗森伯格</a:t>
            </a:r>
            <a:r>
              <a:rPr lang="en-US" altLang="en-US"/>
              <a:t/>
            </a:r>
          </a:p>
        </p:txBody>
      </p:sp>
      <p:sp>
        <p:nvSpPr>
          <p:cNvPr id="50179" name="Rectangle 3">
            <a:extLst>
              <a:ext uri="{FF2B5EF4-FFF2-40B4-BE49-F238E27FC236}">
                <a16:creationId xmlns:a16="http://schemas.microsoft.com/office/drawing/2014/main" id="{635297C2-B598-D5D4-A1A3-27003A8C22E0}"/>
              </a:ext>
            </a:extLst>
          </p:cNvPr>
          <p:cNvSpPr>
            <a:spLocks noGrp="1" noChangeArrowheads="1"/>
          </p:cNvSpPr>
          <p:nvPr>
            <p:ph type="body" idx="1"/>
          </p:nvPr>
        </p:nvSpPr>
        <p:spPr/>
        <p:txBody>
          <a:bodyPr/>
          <a:lstStyle/>
          <a:p>
            <a:pPr eaLnBrk="1" hangingPunct="1">
              <a:lnSpc>
                <a:spcPct val="90000"/>
              </a:lnSpc>
            </a:pPr>
            <a:r>
              <a:rPr lang="en-US" altLang="en-US" sz="2100" b="1">
                <a:solidFill>
                  <a:schemeClr val="hlink"/>
                </a:solidFill>
                <a:latin typeface="Garamond" panose="02020404030301010803" pitchFamily="18" charset="0"/>
              </a:rPr>
              <a:t>“我们大多数人在成长过程中所使用的语言鼓励我们标记、比较、要求、发音评判，而不是意识到我们是感受和需要什么。”</a:t>
            </a:r>
          </a:p>
          <a:p>
            <a:pPr eaLnBrk="1" hangingPunct="1">
              <a:lnSpc>
                <a:spcPct val="90000"/>
              </a:lnSpc>
            </a:pPr>
            <a:endParaRPr lang="en-US" altLang="en-US" sz="2100" b="1">
              <a:solidFill>
                <a:schemeClr val="hlink"/>
              </a:solidFill>
              <a:latin typeface="Garamond" panose="02020404030301010803" pitchFamily="18" charset="0"/>
            </a:endParaRPr>
          </a:p>
          <a:p>
            <a:pPr eaLnBrk="1" hangingPunct="1">
              <a:lnSpc>
                <a:spcPct val="90000"/>
              </a:lnSpc>
            </a:pPr>
            <a:r>
              <a:rPr lang="en-US" altLang="en-US" sz="2100" b="1">
                <a:solidFill>
                  <a:schemeClr val="hlink"/>
                </a:solidFill>
                <a:latin typeface="Garamond" panose="02020404030301010803" pitchFamily="18" charset="0"/>
              </a:rPr>
              <a:t>“我相信，疏远生命的沟通植根于人性观，强调人类与生俱来的邪恶和缺陷，以及需要控制我们固有的不良本性的教育。这种教育常常让人质疑我们可能经历的感受和需要是否有问题。”</a:t>
            </a:r>
          </a:p>
          <a:p>
            <a:pPr eaLnBrk="1" hangingPunct="1">
              <a:lnSpc>
                <a:spcPct val="90000"/>
              </a:lnSpc>
            </a:pPr>
            <a:endParaRPr lang="en-US" altLang="en-US" sz="2100" b="1">
              <a:solidFill>
                <a:schemeClr val="hlink"/>
              </a:solidFill>
              <a:latin typeface="Garamond" panose="02020404030301010803" pitchFamily="18" charset="0"/>
            </a:endParaRPr>
          </a:p>
          <a:p>
            <a:pPr eaLnBrk="1" hangingPunct="1">
              <a:lnSpc>
                <a:spcPct val="90000"/>
              </a:lnSpc>
            </a:pPr>
            <a:r>
              <a:rPr lang="en-US" altLang="en-US" sz="2100" b="1">
                <a:solidFill>
                  <a:schemeClr val="hlink"/>
                </a:solidFill>
                <a:latin typeface="Garamond" panose="02020404030301010803" pitchFamily="18" charset="0"/>
              </a:rPr>
              <a:t>“我们学会将自己与自己内心发生的事情隔离开来”</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4" name="Rectangle 4">
            <a:extLst>
              <a:ext uri="{FF2B5EF4-FFF2-40B4-BE49-F238E27FC236}">
                <a16:creationId xmlns:a16="http://schemas.microsoft.com/office/drawing/2014/main" id="{7C01DE05-7B3F-98FA-14DD-BC084147AFDB}"/>
              </a:ext>
            </a:extLst>
          </p:cNvPr>
          <p:cNvSpPr>
            <a:spLocks noGrp="1" noChangeArrowheads="1"/>
          </p:cNvSpPr>
          <p:nvPr>
            <p:ph type="ctrTitle"/>
          </p:nvPr>
        </p:nvSpPr>
        <p:spPr>
          <a:xfrm>
            <a:off x="1509713" y="1274763"/>
            <a:ext cx="6837362" cy="1085850"/>
          </a:xfrm>
        </p:spPr>
        <p:txBody>
          <a:bodyPr/>
          <a:lstStyle/>
          <a:p>
            <a:pPr algn="ctr" eaLnBrk="1" hangingPunct="1"/>
            <a:r>
              <a:rPr lang="en-US" altLang="en-US">
                <a:solidFill>
                  <a:schemeClr val="hlink"/>
                </a:solidFill>
                <a:latin typeface="Freestyle Script" panose="030804020302050B0404" pitchFamily="66" charset="0"/>
              </a:rPr>
              <a:t>如何说话</a:t>
            </a:r>
          </a:p>
        </p:txBody>
      </p:sp>
      <p:sp>
        <p:nvSpPr>
          <p:cNvPr id="92165" name="Rectangle 5">
            <a:extLst>
              <a:ext uri="{FF2B5EF4-FFF2-40B4-BE49-F238E27FC236}">
                <a16:creationId xmlns:a16="http://schemas.microsoft.com/office/drawing/2014/main" id="{9B612336-9244-014B-2D39-48AF6F645819}"/>
              </a:ext>
            </a:extLst>
          </p:cNvPr>
          <p:cNvSpPr>
            <a:spLocks noGrp="1" noChangeArrowheads="1"/>
          </p:cNvSpPr>
          <p:nvPr>
            <p:ph type="subTitle" idx="1"/>
          </p:nvPr>
        </p:nvSpPr>
        <p:spPr>
          <a:xfrm>
            <a:off x="1371600" y="2895600"/>
            <a:ext cx="6400800" cy="1752600"/>
          </a:xfrm>
        </p:spPr>
        <p:txBody>
          <a:bodyPr/>
          <a:lstStyle/>
          <a:p>
            <a:pPr algn="ctr" eaLnBrk="1" hangingPunct="1">
              <a:buFont typeface="Wingdings" panose="05000000000000000000" pitchFamily="2" charset="2"/>
              <a:buNone/>
            </a:pPr>
            <a:r>
              <a:rPr lang="en-US" altLang="en-US" sz="4100">
                <a:solidFill>
                  <a:schemeClr val="hlink"/>
                </a:solidFill>
                <a:latin typeface="Freestyle Script" panose="030804020302050B0404" pitchFamily="66" charset="0"/>
              </a:rPr>
              <a:t>使用 非暴力沟通</a:t>
            </a:r>
          </a:p>
        </p:txBody>
      </p:sp>
    </p:spTree>
  </p:cSld>
  <p:clrMapOvr>
    <a:masterClrMapping/>
  </p:clrMapOvr>
  <p:transition>
    <p:wheel spokes="1"/>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D5DDCCAC-47FC-A595-54EE-479C78A5C65D}"/>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NVC（非暴力沟通） 的四个组成部分</a:t>
            </a:r>
          </a:p>
        </p:txBody>
      </p:sp>
      <p:sp>
        <p:nvSpPr>
          <p:cNvPr id="51203" name="Rectangle 3">
            <a:extLst>
              <a:ext uri="{FF2B5EF4-FFF2-40B4-BE49-F238E27FC236}">
                <a16:creationId xmlns:a16="http://schemas.microsoft.com/office/drawing/2014/main" id="{810B2CD0-61C7-111C-E2E9-DAB92CBF47BE}"/>
              </a:ext>
            </a:extLst>
          </p:cNvPr>
          <p:cNvSpPr>
            <a:spLocks noGrp="1" noChangeArrowheads="1"/>
          </p:cNvSpPr>
          <p:nvPr>
            <p:ph type="body" idx="1"/>
          </p:nvPr>
        </p:nvSpPr>
        <p:spPr>
          <a:xfrm>
            <a:off x="1370013" y="1981200"/>
            <a:ext cx="7313612" cy="4114800"/>
          </a:xfrm>
        </p:spPr>
        <p:txBody>
          <a:bodyPr/>
          <a:lstStyle/>
          <a:p>
            <a:pPr algn="ctr" eaLnBrk="1" hangingPunct="1">
              <a:buFont typeface="Wingdings" panose="05000000000000000000" pitchFamily="2" charset="2"/>
              <a:buNone/>
            </a:pPr>
            <a:r>
              <a:rPr lang="en-US" altLang="en-US"/>
              <a:t>观察</a:t>
            </a:r>
          </a:p>
          <a:p>
            <a:pPr algn="ctr" eaLnBrk="1" hangingPunct="1">
              <a:buFont typeface="Wingdings" panose="05000000000000000000" pitchFamily="2" charset="2"/>
              <a:buNone/>
            </a:pPr>
            <a:r>
              <a:rPr lang="en-US" altLang="en-US" sz="1500">
                <a:solidFill>
                  <a:schemeClr val="hlink"/>
                </a:solidFill>
              </a:rPr>
              <a:t>我们观察到的影响我们福祉的具体行动</a:t>
            </a:r>
          </a:p>
          <a:p>
            <a:pPr algn="ctr" eaLnBrk="1" hangingPunct="1">
              <a:buFont typeface="Wingdings" panose="05000000000000000000" pitchFamily="2" charset="2"/>
              <a:buNone/>
            </a:pPr>
            <a:r>
              <a:rPr lang="en-US" altLang="en-US"/>
              <a:t>感受</a:t>
            </a:r>
          </a:p>
          <a:p>
            <a:pPr algn="ctr" eaLnBrk="1" hangingPunct="1">
              <a:buFont typeface="Wingdings" panose="05000000000000000000" pitchFamily="2" charset="2"/>
              <a:buNone/>
            </a:pPr>
            <a:r>
              <a:rPr lang="en-US" altLang="en-US" sz="1500">
                <a:solidFill>
                  <a:schemeClr val="hlink"/>
                </a:solidFill>
              </a:rPr>
              <a:t>我们的感受与我们观察到的事物的关系</a:t>
            </a:r>
          </a:p>
          <a:p>
            <a:pPr algn="ctr" eaLnBrk="1" hangingPunct="1">
              <a:buFont typeface="Wingdings" panose="05000000000000000000" pitchFamily="2" charset="2"/>
              <a:buNone/>
            </a:pPr>
            <a:r>
              <a:rPr lang="en-US" altLang="en-US"/>
              <a:t>需要</a:t>
            </a:r>
          </a:p>
          <a:p>
            <a:pPr algn="ctr" eaLnBrk="1" hangingPunct="1">
              <a:buFont typeface="Wingdings" panose="05000000000000000000" pitchFamily="2" charset="2"/>
              <a:buNone/>
            </a:pPr>
            <a:r>
              <a:rPr lang="en-US" altLang="en-US" sz="1500">
                <a:solidFill>
                  <a:schemeClr val="hlink"/>
                </a:solidFill>
              </a:rPr>
              <a:t>需要、价值观、愿望创造了我们的感受</a:t>
            </a:r>
          </a:p>
          <a:p>
            <a:pPr algn="ctr" eaLnBrk="1" hangingPunct="1">
              <a:buFont typeface="Wingdings" panose="05000000000000000000" pitchFamily="2" charset="2"/>
              <a:buNone/>
            </a:pPr>
            <a:r>
              <a:rPr lang="en-US" altLang="en-US"/>
              <a:t>请求</a:t>
            </a:r>
          </a:p>
          <a:p>
            <a:pPr algn="ctr" eaLnBrk="1" hangingPunct="1">
              <a:buFont typeface="Wingdings" panose="05000000000000000000" pitchFamily="2" charset="2"/>
              <a:buNone/>
            </a:pPr>
            <a:r>
              <a:rPr lang="en-US" altLang="en-US" sz="1500">
                <a:solidFill>
                  <a:schemeClr val="hlink"/>
                </a:solidFill>
              </a:rPr>
              <a:t>我们的具体行动请求是为了丰富我们的生活。</a:t>
            </a:r>
          </a:p>
        </p:txBody>
      </p:sp>
    </p:spTree>
  </p:cSld>
  <p:clrMapOvr>
    <a:masterClrMapping/>
  </p:clrMapOvr>
  <p:transition>
    <p:wedge/>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F2EB06F-A5E0-B4ED-75B0-CBA560E2EC81}"/>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第一步</a:t>
            </a:r>
          </a:p>
        </p:txBody>
      </p:sp>
      <p:sp>
        <p:nvSpPr>
          <p:cNvPr id="94211" name="Rectangle 3">
            <a:extLst>
              <a:ext uri="{FF2B5EF4-FFF2-40B4-BE49-F238E27FC236}">
                <a16:creationId xmlns:a16="http://schemas.microsoft.com/office/drawing/2014/main" id="{0B8DC44C-7449-E7B1-BA3E-B0B0A97379A4}"/>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rPr>
              <a:t>制作一个 观察</a:t>
            </a:r>
          </a:p>
          <a:p>
            <a:pPr algn="ctr" eaLnBrk="1" hangingPunct="1">
              <a:buFont typeface="Wingdings" panose="05000000000000000000" pitchFamily="2" charset="2"/>
              <a:buNone/>
            </a:pPr>
            <a:endParaRPr lang="en-US" altLang="en-US">
              <a:solidFill>
                <a:schemeClr val="hlink"/>
              </a:solidFill>
            </a:endParaRPr>
          </a:p>
          <a:p>
            <a:pPr algn="ctr" eaLnBrk="1" hangingPunct="1">
              <a:buFont typeface="Wingdings" panose="05000000000000000000" pitchFamily="2" charset="2"/>
              <a:buNone/>
            </a:pPr>
            <a:r>
              <a:rPr lang="en-US" altLang="en-US">
                <a:solidFill>
                  <a:schemeClr val="hlink"/>
                </a:solidFill>
              </a:rPr>
              <a:t>但…</a:t>
            </a:r>
          </a:p>
          <a:p>
            <a:pPr algn="ctr" eaLnBrk="1" hangingPunct="1">
              <a:buFont typeface="Wingdings" panose="05000000000000000000" pitchFamily="2" charset="2"/>
              <a:buNone/>
            </a:pPr>
            <a:endParaRPr lang="en-US" altLang="en-US">
              <a:solidFill>
                <a:schemeClr val="hlink"/>
              </a:solidFill>
            </a:endParaRPr>
          </a:p>
          <a:p>
            <a:pPr algn="ctr" eaLnBrk="1" hangingPunct="1">
              <a:buFont typeface="Wingdings" panose="05000000000000000000" pitchFamily="2" charset="2"/>
              <a:buNone/>
            </a:pPr>
            <a:r>
              <a:rPr lang="en-US" altLang="en-US">
                <a:solidFill>
                  <a:schemeClr val="hlink"/>
                </a:solidFill>
              </a:rPr>
              <a:t>确保您的 观察 没有评估。</a:t>
            </a:r>
            <a:r>
              <a:rPr lang="en-US" altLang="en-US"/>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8558D66-F63A-0C31-15B0-757744A3DDF0}"/>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从评估中解读 观察</a:t>
            </a:r>
          </a:p>
        </p:txBody>
      </p:sp>
      <p:sp>
        <p:nvSpPr>
          <p:cNvPr id="54275" name="Rectangle 3">
            <a:extLst>
              <a:ext uri="{FF2B5EF4-FFF2-40B4-BE49-F238E27FC236}">
                <a16:creationId xmlns:a16="http://schemas.microsoft.com/office/drawing/2014/main" id="{69F60D67-E85E-F6AE-5182-6892DC1CF393}"/>
              </a:ext>
            </a:extLst>
          </p:cNvPr>
          <p:cNvSpPr>
            <a:spLocks noGrp="1" noChangeArrowheads="1"/>
          </p:cNvSpPr>
          <p:nvPr>
            <p:ph type="body" idx="1"/>
          </p:nvPr>
        </p:nvSpPr>
        <p:spPr>
          <a:xfrm>
            <a:off x="1370013" y="1752600"/>
            <a:ext cx="7313612" cy="4114800"/>
          </a:xfrm>
        </p:spPr>
        <p:txBody>
          <a:bodyPr/>
          <a:lstStyle/>
          <a:p>
            <a:pPr eaLnBrk="1" hangingPunct="1"/>
            <a:r>
              <a:rPr lang="en-US" altLang="en-US" b="1">
                <a:solidFill>
                  <a:schemeClr val="hlink"/>
                </a:solidFill>
                <a:latin typeface="Garamond" panose="02020404030301010803" pitchFamily="18" charset="0"/>
              </a:rPr>
              <a:t>“我们需要清楚地观察我们所看到的、听到的或触摸到的影响我们幸福感的东西，而不掺杂任何评价。”——罗森伯格</a:t>
            </a:r>
          </a:p>
          <a:p>
            <a:pPr eaLnBrk="1" hangingPunct="1"/>
            <a:r>
              <a:rPr lang="en-US" altLang="en-US" b="1">
                <a:solidFill>
                  <a:schemeClr val="hlink"/>
                </a:solidFill>
                <a:latin typeface="Garamond" panose="02020404030301010803" pitchFamily="18" charset="0"/>
              </a:rPr>
              <a:t>当我们将评估与 观察 混合在一起时，我们会降低其他人听到我们想要传达的信息的可能性。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8E60CC73-EE5C-909B-9AB9-AA48588E67DF}"/>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观察而不评估</a:t>
            </a:r>
          </a:p>
        </p:txBody>
      </p:sp>
      <p:sp>
        <p:nvSpPr>
          <p:cNvPr id="52228" name="Rectangle 4">
            <a:extLst>
              <a:ext uri="{FF2B5EF4-FFF2-40B4-BE49-F238E27FC236}">
                <a16:creationId xmlns:a16="http://schemas.microsoft.com/office/drawing/2014/main" id="{EF073924-FFE7-983B-EB3F-C21D0A540E36}"/>
              </a:ext>
            </a:extLst>
          </p:cNvPr>
          <p:cNvSpPr>
            <a:spLocks noGrp="1" noChangeArrowheads="1"/>
          </p:cNvSpPr>
          <p:nvPr>
            <p:ph type="body" sz="half" idx="1"/>
          </p:nvPr>
        </p:nvSpPr>
        <p:spPr>
          <a:xfrm>
            <a:off x="1370013" y="1827213"/>
            <a:ext cx="3589337" cy="4114800"/>
          </a:xfrm>
        </p:spPr>
        <p:txBody>
          <a:bodyPr/>
          <a:lstStyle/>
          <a:p>
            <a:pPr eaLnBrk="1" hangingPunct="1"/>
            <a:r>
              <a:rPr lang="en-US" altLang="en-US" sz="2500" b="1">
                <a:solidFill>
                  <a:schemeClr val="hlink"/>
                </a:solidFill>
                <a:latin typeface="Garamond" panose="02020404030301010803" pitchFamily="18" charset="0"/>
              </a:rPr>
              <a:t>道格拖延</a:t>
            </a:r>
          </a:p>
          <a:p>
            <a:pPr eaLnBrk="1" hangingPunct="1"/>
            <a:endParaRPr lang="en-US" altLang="en-US" sz="2500" b="1">
              <a:solidFill>
                <a:schemeClr val="hlink"/>
              </a:solidFill>
              <a:latin typeface="Garamond" panose="02020404030301010803" pitchFamily="18" charset="0"/>
            </a:endParaRPr>
          </a:p>
          <a:p>
            <a:pPr eaLnBrk="1" hangingPunct="1"/>
            <a:endParaRPr lang="en-US" altLang="en-US" sz="2500" b="1">
              <a:solidFill>
                <a:schemeClr val="hlink"/>
              </a:solidFill>
              <a:latin typeface="Garamond" panose="02020404030301010803" pitchFamily="18" charset="0"/>
            </a:endParaRPr>
          </a:p>
          <a:p>
            <a:pPr eaLnBrk="1" hangingPunct="1"/>
            <a:r>
              <a:rPr lang="en-US" altLang="en-US" sz="2500" b="1">
                <a:solidFill>
                  <a:schemeClr val="hlink"/>
                </a:solidFill>
                <a:latin typeface="Garamond" panose="02020404030301010803" pitchFamily="18" charset="0"/>
              </a:rPr>
              <a:t>汉克是一个可怜的足球运动员</a:t>
            </a:r>
          </a:p>
          <a:p>
            <a:pPr eaLnBrk="1" hangingPunct="1"/>
            <a:endParaRPr lang="en-US" altLang="en-US" sz="2500" b="1">
              <a:solidFill>
                <a:schemeClr val="hlink"/>
              </a:solidFill>
              <a:latin typeface="Garamond" panose="02020404030301010803" pitchFamily="18" charset="0"/>
            </a:endParaRPr>
          </a:p>
          <a:p>
            <a:pPr eaLnBrk="1" hangingPunct="1"/>
            <a:r>
              <a:rPr lang="en-US" altLang="en-US" sz="2500" b="1">
                <a:solidFill>
                  <a:schemeClr val="hlink"/>
                </a:solidFill>
                <a:latin typeface="Garamond" panose="02020404030301010803" pitchFamily="18" charset="0"/>
              </a:rPr>
              <a:t>吉姆很丑</a:t>
            </a:r>
          </a:p>
        </p:txBody>
      </p:sp>
      <p:sp>
        <p:nvSpPr>
          <p:cNvPr id="52229" name="Rectangle 5">
            <a:extLst>
              <a:ext uri="{FF2B5EF4-FFF2-40B4-BE49-F238E27FC236}">
                <a16:creationId xmlns:a16="http://schemas.microsoft.com/office/drawing/2014/main" id="{E5A5196B-3FA3-5259-DBF7-F2A0771A724A}"/>
              </a:ext>
            </a:extLst>
          </p:cNvPr>
          <p:cNvSpPr>
            <a:spLocks noGrp="1" noChangeArrowheads="1"/>
          </p:cNvSpPr>
          <p:nvPr>
            <p:ph type="body" sz="half" idx="2"/>
          </p:nvPr>
        </p:nvSpPr>
        <p:spPr>
          <a:xfrm>
            <a:off x="5094288" y="1827213"/>
            <a:ext cx="3589337" cy="4114800"/>
          </a:xfrm>
        </p:spPr>
        <p:txBody>
          <a:bodyPr/>
          <a:lstStyle/>
          <a:p>
            <a:pPr eaLnBrk="1" hangingPunct="1"/>
            <a:r>
              <a:rPr lang="en-US" altLang="en-US" sz="2500" b="1">
                <a:solidFill>
                  <a:schemeClr val="hlink"/>
                </a:solidFill>
                <a:latin typeface="Garamond" panose="02020404030301010803" pitchFamily="18" charset="0"/>
              </a:rPr>
              <a:t>道格只在前一天晚上复习考试</a:t>
            </a:r>
          </a:p>
          <a:p>
            <a:pPr eaLnBrk="1" hangingPunct="1"/>
            <a:r>
              <a:rPr lang="en-US" altLang="en-US" sz="2500" b="1">
                <a:solidFill>
                  <a:schemeClr val="hlink"/>
                </a:solidFill>
                <a:latin typeface="Garamond" panose="02020404030301010803" pitchFamily="18" charset="0"/>
              </a:rPr>
              <a:t>汉克已经二十场比赛没有进球了</a:t>
            </a:r>
          </a:p>
          <a:p>
            <a:pPr eaLnBrk="1" hangingPunct="1"/>
            <a:endParaRPr lang="en-US" altLang="en-US" sz="2500" b="1">
              <a:solidFill>
                <a:schemeClr val="hlink"/>
              </a:solidFill>
              <a:latin typeface="Garamond" panose="02020404030301010803" pitchFamily="18" charset="0"/>
            </a:endParaRPr>
          </a:p>
          <a:p>
            <a:pPr eaLnBrk="1" hangingPunct="1"/>
            <a:r>
              <a:rPr lang="en-US" altLang="en-US" sz="2500" b="1">
                <a:solidFill>
                  <a:schemeClr val="hlink"/>
                </a:solidFill>
                <a:latin typeface="Garamond" panose="02020404030301010803" pitchFamily="18" charset="0"/>
              </a:rPr>
              <a:t>吉姆的外表不吸引我</a:t>
            </a: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fade">
                                      <p:cBhvr>
                                        <p:cTn id="7" dur="2000"/>
                                        <p:tgtEl>
                                          <p:spTgt spid="52226"/>
                                        </p:tgtEl>
                                      </p:cBhvr>
                                    </p:animEffect>
                                  </p:childTnLst>
                                </p:cTn>
                              </p:par>
                              <p:par>
                                <p:cTn id="8" presetID="10" presetClass="entr" presetSubtype="0" fill="hold" nodeType="withEffect">
                                  <p:stCondLst>
                                    <p:cond delay="0"/>
                                  </p:stCondLst>
                                  <p:childTnLst>
                                    <p:set>
                                      <p:cBhvr>
                                        <p:cTn id="9" dur="1" fill="hold">
                                          <p:stCondLst>
                                            <p:cond delay="0"/>
                                          </p:stCondLst>
                                        </p:cTn>
                                        <p:tgtEl>
                                          <p:spTgt spid="52228"/>
                                        </p:tgtEl>
                                        <p:attrNameLst>
                                          <p:attrName>style.visibility</p:attrName>
                                        </p:attrNameLst>
                                      </p:cBhvr>
                                      <p:to>
                                        <p:strVal val="visible"/>
                                      </p:to>
                                    </p:set>
                                    <p:animEffect transition="in" filter="fade">
                                      <p:cBhvr>
                                        <p:cTn id="10" dur="2000"/>
                                        <p:tgtEl>
                                          <p:spTgt spid="52228"/>
                                        </p:tgtEl>
                                      </p:cBhvr>
                                    </p:animEffect>
                                  </p:childTnLst>
                                </p:cTn>
                              </p:par>
                              <p:par>
                                <p:cTn id="11" presetID="10" presetClass="entr" presetSubtype="0" fill="hold" nodeType="withEffect">
                                  <p:stCondLst>
                                    <p:cond delay="0"/>
                                  </p:stCondLst>
                                  <p:childTnLst>
                                    <p:set>
                                      <p:cBhvr>
                                        <p:cTn id="12" dur="1" fill="hold">
                                          <p:stCondLst>
                                            <p:cond delay="0"/>
                                          </p:stCondLst>
                                        </p:cTn>
                                        <p:tgtEl>
                                          <p:spTgt spid="52229"/>
                                        </p:tgtEl>
                                        <p:attrNameLst>
                                          <p:attrName>style.visibility</p:attrName>
                                        </p:attrNameLst>
                                      </p:cBhvr>
                                      <p:to>
                                        <p:strVal val="visible"/>
                                      </p:to>
                                    </p:set>
                                    <p:animEffect transition="in" filter="fade">
                                      <p:cBhvr>
                                        <p:cTn id="13" dur="2000"/>
                                        <p:tgtEl>
                                          <p:spTgt spid="52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p:bldP spid="52228" grpId="0"/>
      <p:bldP spid="52229" grpId="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C8F4BF9B-795D-AFC1-DD2E-CC87017ED9C8}"/>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观察 没有评估</a:t>
            </a:r>
          </a:p>
        </p:txBody>
      </p:sp>
      <p:sp>
        <p:nvSpPr>
          <p:cNvPr id="55299" name="Rectangle 3">
            <a:extLst>
              <a:ext uri="{FF2B5EF4-FFF2-40B4-BE49-F238E27FC236}">
                <a16:creationId xmlns:a16="http://schemas.microsoft.com/office/drawing/2014/main" id="{B7C0D4E2-C4B7-D3B0-45DC-33479EF4056C}"/>
              </a:ext>
            </a:extLst>
          </p:cNvPr>
          <p:cNvSpPr>
            <a:spLocks noGrp="1" noChangeArrowheads="1"/>
          </p:cNvSpPr>
          <p:nvPr>
            <p:ph type="body" idx="1"/>
          </p:nvPr>
        </p:nvSpPr>
        <p:spPr/>
        <p:txBody>
          <a:bodyPr/>
          <a:lstStyle/>
          <a:p>
            <a:pPr eaLnBrk="1" hangingPunct="1">
              <a:lnSpc>
                <a:spcPct val="90000"/>
              </a:lnSpc>
            </a:pPr>
            <a:r>
              <a:rPr lang="en-US" altLang="en-US" b="1">
                <a:solidFill>
                  <a:schemeClr val="hlink"/>
                </a:solidFill>
                <a:latin typeface="Garamond" panose="02020404030301010803" pitchFamily="18" charset="0"/>
              </a:rPr>
              <a:t>“总是”、“从不”、“永远”、“无论何时”这些词用作夸张时，都是危险信号，强调 观察 和评估是混合在一起的。</a:t>
            </a:r>
          </a:p>
          <a:p>
            <a:pPr lvl="1" eaLnBrk="1" hangingPunct="1">
              <a:lnSpc>
                <a:spcPct val="90000"/>
              </a:lnSpc>
            </a:pPr>
            <a:r>
              <a:rPr lang="en-US" altLang="en-US" b="1">
                <a:solidFill>
                  <a:schemeClr val="hlink"/>
                </a:solidFill>
                <a:latin typeface="Garamond" panose="02020404030301010803" pitchFamily="18" charset="0"/>
                <a:ea typeface="ＭＳ Ｐゴシック" panose="020B0600070205080204" pitchFamily="34" charset="-128"/>
              </a:rPr>
              <a:t>“你总是很忙”</a:t>
            </a:r>
          </a:p>
          <a:p>
            <a:pPr lvl="1" eaLnBrk="1" hangingPunct="1">
              <a:lnSpc>
                <a:spcPct val="90000"/>
              </a:lnSpc>
            </a:pPr>
            <a:r>
              <a:rPr lang="en-US" altLang="en-US" b="1">
                <a:solidFill>
                  <a:schemeClr val="hlink"/>
                </a:solidFill>
                <a:latin typeface="Garamond" panose="02020404030301010803" pitchFamily="18" charset="0"/>
                <a:ea typeface="ＭＳ Ｐゴシック" panose="020B0600070205080204" pitchFamily="34" charset="-128"/>
              </a:rPr>
              <a:t>当需要她的时候，她永远不会出现”</a:t>
            </a:r>
          </a:p>
          <a:p>
            <a:pPr eaLnBrk="1" hangingPunct="1">
              <a:lnSpc>
                <a:spcPct val="90000"/>
              </a:lnSpc>
            </a:pPr>
            <a:r>
              <a:rPr lang="en-US" altLang="en-US" b="1">
                <a:solidFill>
                  <a:schemeClr val="hlink"/>
                </a:solidFill>
                <a:latin typeface="Garamond" panose="02020404030301010803" pitchFamily="18" charset="0"/>
              </a:rPr>
              <a:t>当用作夸张时，它们常常会引起防御而不是慈悲。</a:t>
            </a:r>
            <a:r>
              <a:rPr lang="en-US" altLang="en-U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68A8B95-3C7E-72E3-80A5-B34970B9D360}"/>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第二步</a:t>
            </a:r>
            <a:r>
              <a:rPr lang="en-US" altLang="en-US"/>
              <a:t/>
            </a:r>
          </a:p>
        </p:txBody>
      </p:sp>
      <p:sp>
        <p:nvSpPr>
          <p:cNvPr id="95235" name="Rectangle 3">
            <a:extLst>
              <a:ext uri="{FF2B5EF4-FFF2-40B4-BE49-F238E27FC236}">
                <a16:creationId xmlns:a16="http://schemas.microsoft.com/office/drawing/2014/main" id="{224A0D14-751B-CBD3-A4D3-F5DCA73DB2D5}"/>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说出你的感受</a:t>
            </a: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与你所观察到的情况相关</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但…</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确保您实际上是在陈述 感受</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1B1ED15-4C20-1BBA-0952-E38755A979DE}"/>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识别和表达 感受</a:t>
            </a:r>
          </a:p>
        </p:txBody>
      </p:sp>
      <p:sp>
        <p:nvSpPr>
          <p:cNvPr id="56323" name="Rectangle 3">
            <a:extLst>
              <a:ext uri="{FF2B5EF4-FFF2-40B4-BE49-F238E27FC236}">
                <a16:creationId xmlns:a16="http://schemas.microsoft.com/office/drawing/2014/main" id="{353021F9-69D5-694A-85D1-7385B8276AEC}"/>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很多时候表达感受会让人感到脆弱</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表达我们的脆弱可以帮助解决冲突。</a:t>
            </a:r>
            <a:r>
              <a:rPr lang="en-US" altLang="en-U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76FB9B7-7856-0B95-0EAA-C2A9B9D30517}"/>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感受 与非 感受</a:t>
            </a:r>
          </a:p>
        </p:txBody>
      </p:sp>
      <p:sp>
        <p:nvSpPr>
          <p:cNvPr id="57347" name="Rectangle 3">
            <a:extLst>
              <a:ext uri="{FF2B5EF4-FFF2-40B4-BE49-F238E27FC236}">
                <a16:creationId xmlns:a16="http://schemas.microsoft.com/office/drawing/2014/main" id="{C7D2B1EA-B1FB-BEBC-6508-6BC4A2D92B07}"/>
              </a:ext>
            </a:extLst>
          </p:cNvPr>
          <p:cNvSpPr>
            <a:spLocks noGrp="1" noChangeArrowheads="1"/>
          </p:cNvSpPr>
          <p:nvPr>
            <p:ph type="body" idx="1"/>
          </p:nvPr>
        </p:nvSpPr>
        <p:spPr/>
        <p:txBody>
          <a:bodyPr/>
          <a:lstStyle/>
          <a:p>
            <a:pPr eaLnBrk="1" hangingPunct="1"/>
            <a:r>
              <a:rPr lang="en-US" altLang="en-US" sz="2500" b="1">
                <a:solidFill>
                  <a:schemeClr val="hlink"/>
                </a:solidFill>
                <a:latin typeface="Garamond" panose="02020404030301010803" pitchFamily="18" charset="0"/>
              </a:rPr>
              <a:t>通常说“feel”而不实际表达“感受”。</a:t>
            </a:r>
          </a:p>
          <a:p>
            <a:pPr eaLnBrk="1" hangingPunct="1"/>
            <a:r>
              <a:rPr lang="en-US" altLang="en-US" sz="2500" b="1">
                <a:solidFill>
                  <a:schemeClr val="hlink"/>
                </a:solidFill>
                <a:latin typeface="Garamond" panose="02020404030301010803" pitchFamily="18" charset="0"/>
              </a:rPr>
              <a:t>一般来说，当“feel”一词后面跟着以下内容时，感受 并没有被清楚地表达：</a:t>
            </a:r>
          </a:p>
          <a:p>
            <a:pPr lvl="1" eaLnBrk="1" hangingPunct="1"/>
            <a:r>
              <a:rPr lang="en-US" altLang="en-US" sz="2100" b="1">
                <a:solidFill>
                  <a:schemeClr val="hlink"/>
                </a:solidFill>
                <a:latin typeface="Garamond" panose="02020404030301010803" pitchFamily="18" charset="0"/>
                <a:ea typeface="ＭＳ Ｐゴシック" panose="020B0600070205080204" pitchFamily="34" charset="-128"/>
              </a:rPr>
              <a:t>那个，就像，作为</a:t>
            </a:r>
          </a:p>
          <a:p>
            <a:pPr lvl="2" eaLnBrk="1" hangingPunct="1"/>
            <a:r>
              <a:rPr lang="en-US" altLang="en-US" sz="2000" b="1">
                <a:solidFill>
                  <a:schemeClr val="hlink"/>
                </a:solidFill>
                <a:latin typeface="Garamond" panose="02020404030301010803" pitchFamily="18" charset="0"/>
                <a:ea typeface="ＭＳ Ｐゴシック" panose="020B0600070205080204" pitchFamily="34" charset="-128"/>
              </a:rPr>
              <a:t>“我觉得你应该更了解”</a:t>
            </a:r>
          </a:p>
          <a:p>
            <a:pPr lvl="1" eaLnBrk="1" hangingPunct="1"/>
            <a:r>
              <a:rPr lang="en-US" altLang="en-US" sz="2100" b="1">
                <a:solidFill>
                  <a:schemeClr val="hlink"/>
                </a:solidFill>
                <a:latin typeface="Garamond" panose="02020404030301010803" pitchFamily="18" charset="0"/>
                <a:ea typeface="ＭＳ Ｐゴシック" panose="020B0600070205080204" pitchFamily="34" charset="-128"/>
              </a:rPr>
              <a:t>代词：我、你、他、她、他们</a:t>
            </a:r>
          </a:p>
          <a:p>
            <a:pPr lvl="2" eaLnBrk="1" hangingPunct="1"/>
            <a:r>
              <a:rPr lang="en-US" altLang="en-US" sz="2000" b="1">
                <a:solidFill>
                  <a:schemeClr val="hlink"/>
                </a:solidFill>
                <a:latin typeface="Garamond" panose="02020404030301010803" pitchFamily="18" charset="0"/>
                <a:ea typeface="ＭＳ Ｐゴシック" panose="020B0600070205080204" pitchFamily="34" charset="-128"/>
              </a:rPr>
              <a:t>“我觉得我随时待命”</a:t>
            </a:r>
          </a:p>
          <a:p>
            <a:pPr lvl="1" eaLnBrk="1" hangingPunct="1"/>
            <a:r>
              <a:rPr lang="en-US" altLang="en-US" sz="2100" b="1">
                <a:solidFill>
                  <a:schemeClr val="hlink"/>
                </a:solidFill>
                <a:latin typeface="Garamond" panose="02020404030301010803" pitchFamily="18" charset="0"/>
                <a:ea typeface="ＭＳ Ｐゴシック" panose="020B0600070205080204" pitchFamily="34" charset="-128"/>
              </a:rPr>
              <a:t>名字或名词</a:t>
            </a:r>
          </a:p>
          <a:p>
            <a:pPr lvl="2" eaLnBrk="1" hangingPunct="1"/>
            <a:r>
              <a:rPr lang="en-US" altLang="en-US" sz="2000" b="1">
                <a:solidFill>
                  <a:schemeClr val="hlink"/>
                </a:solidFill>
                <a:latin typeface="Garamond" panose="02020404030301010803" pitchFamily="18" charset="0"/>
                <a:ea typeface="ＭＳ Ｐゴシック" panose="020B0600070205080204" pitchFamily="34" charset="-128"/>
              </a:rPr>
              <a:t>“我觉得艾米有责任”</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879E1DA3-C88F-9C99-AB74-FA4BC317B276}"/>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感受 与非 感受</a:t>
            </a:r>
          </a:p>
        </p:txBody>
      </p:sp>
      <p:sp>
        <p:nvSpPr>
          <p:cNvPr id="58371" name="Rectangle 3">
            <a:extLst>
              <a:ext uri="{FF2B5EF4-FFF2-40B4-BE49-F238E27FC236}">
                <a16:creationId xmlns:a16="http://schemas.microsoft.com/office/drawing/2014/main" id="{A05898D0-8D8D-EBA2-C3D6-4558E819FCA7}"/>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区分表达实际 感受 的词语和描述我们认为自己（或他人）的词语。</a:t>
            </a:r>
          </a:p>
          <a:p>
            <a:pPr lvl="1" eaLnBrk="1" hangingPunct="1"/>
            <a:r>
              <a:rPr lang="en-US" altLang="en-US">
                <a:solidFill>
                  <a:schemeClr val="hlink"/>
                </a:solidFill>
                <a:latin typeface="Garamond" panose="02020404030301010803" pitchFamily="18" charset="0"/>
                <a:ea typeface="ＭＳ Ｐゴシック" panose="020B0600070205080204" pitchFamily="34" charset="-128"/>
              </a:rPr>
              <a:t>“作为一名吉他手，我觉得自己不够格”</a:t>
            </a:r>
          </a:p>
          <a:p>
            <a:pPr lvl="2" eaLnBrk="1" hangingPunct="1"/>
            <a:r>
              <a:rPr lang="en-US" altLang="en-US">
                <a:solidFill>
                  <a:schemeClr val="hlink"/>
                </a:solidFill>
                <a:latin typeface="Garamond" panose="02020404030301010803" pitchFamily="18" charset="0"/>
                <a:ea typeface="ＭＳ Ｐゴシック" panose="020B0600070205080204" pitchFamily="34" charset="-128"/>
              </a:rPr>
              <a:t>这句话也是在评价自己</a:t>
            </a:r>
          </a:p>
          <a:p>
            <a:pPr eaLnBrk="1" hangingPunct="1"/>
            <a:r>
              <a:rPr lang="en-US" altLang="en-US">
                <a:solidFill>
                  <a:schemeClr val="hlink"/>
                </a:solidFill>
                <a:latin typeface="Garamond" panose="02020404030301010803" pitchFamily="18" charset="0"/>
              </a:rPr>
              <a:t>实际 感受 的表达式：</a:t>
            </a:r>
          </a:p>
          <a:p>
            <a:pPr lvl="1" eaLnBrk="1" hangingPunct="1"/>
            <a:r>
              <a:rPr lang="en-US" altLang="en-US">
                <a:solidFill>
                  <a:schemeClr val="hlink"/>
                </a:solidFill>
                <a:latin typeface="Garamond" panose="02020404030301010803" pitchFamily="18" charset="0"/>
                <a:ea typeface="ＭＳ Ｐゴシック" panose="020B0600070205080204" pitchFamily="34" charset="-128"/>
              </a:rPr>
              <a:t>“作为一名吉他手，我对自己感到沮丧。”</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745FF46E-A5C3-76EA-7231-CB2148C6C548}"/>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假-感受</a:t>
            </a:r>
          </a:p>
        </p:txBody>
      </p:sp>
      <p:sp>
        <p:nvSpPr>
          <p:cNvPr id="59395" name="Rectangle 3">
            <a:extLst>
              <a:ext uri="{FF2B5EF4-FFF2-40B4-BE49-F238E27FC236}">
                <a16:creationId xmlns:a16="http://schemas.microsoft.com/office/drawing/2014/main" id="{1D85367A-C1CF-6395-6AD5-22CEF7F4E80F}"/>
              </a:ext>
            </a:extLst>
          </p:cNvPr>
          <p:cNvSpPr>
            <a:spLocks noGrp="1" noChangeArrowheads="1"/>
          </p:cNvSpPr>
          <p:nvPr>
            <p:ph type="body" idx="1"/>
          </p:nvPr>
        </p:nvSpPr>
        <p:spPr/>
        <p:txBody>
          <a:bodyPr/>
          <a:lstStyle/>
          <a:p>
            <a:pPr eaLnBrk="1" hangingPunct="1">
              <a:lnSpc>
                <a:spcPct val="80000"/>
              </a:lnSpc>
            </a:pPr>
            <a:r>
              <a:rPr lang="en-US" altLang="en-US" sz="2100" b="1">
                <a:solidFill>
                  <a:schemeClr val="hlink"/>
                </a:solidFill>
                <a:latin typeface="Garamond" panose="02020404030301010803" pitchFamily="18" charset="0"/>
              </a:rPr>
              <a:t>假 感受 是我们经常用来表达我们如何解释他人行为的词语，而不是我们的感受：</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弃</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被虐待</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被背叛</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被欺负</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被骗</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不信任</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被拒绝</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闻所未闻</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辜负</a:t>
            </a:r>
          </a:p>
          <a:p>
            <a:pPr algn="ctr" eaLnBrk="1" hangingPunct="1">
              <a:lnSpc>
                <a:spcPct val="80000"/>
              </a:lnSpc>
              <a:buFont typeface="Wingdings" panose="05000000000000000000" pitchFamily="2" charset="2"/>
              <a:buNone/>
            </a:pPr>
            <a:r>
              <a:rPr lang="en-US" altLang="en-US" sz="1900" b="1">
                <a:solidFill>
                  <a:schemeClr val="hlink"/>
                </a:solidFill>
                <a:latin typeface="Garamond" panose="02020404030301010803" pitchFamily="18" charset="0"/>
              </a:rPr>
              <a:t>光顾</a:t>
            </a:r>
          </a:p>
          <a:p>
            <a:pPr eaLnBrk="1" hangingPunct="1">
              <a:lnSpc>
                <a:spcPct val="80000"/>
              </a:lnSpc>
              <a:buFont typeface="Wingdings" panose="05000000000000000000" pitchFamily="2" charset="2"/>
              <a:buNone/>
            </a:pPr>
            <a:endParaRPr lang="en-US" altLang="en-US" sz="1900" b="1">
              <a:solidFill>
                <a:schemeClr val="hlink"/>
              </a:solidFill>
              <a:latin typeface="Garamond" panose="02020404030301010803" pitchFamily="18" charset="0"/>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F05C9F3-6F58-3526-8A76-CD8D8122C1A9}"/>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很多感受字！！</a:t>
            </a:r>
            <a:r>
              <a:rPr lang="en-US" altLang="en-US"/>
              <a:t/>
            </a:r>
          </a:p>
        </p:txBody>
      </p:sp>
      <p:sp>
        <p:nvSpPr>
          <p:cNvPr id="60419" name="Rectangle 3">
            <a:extLst>
              <a:ext uri="{FF2B5EF4-FFF2-40B4-BE49-F238E27FC236}">
                <a16:creationId xmlns:a16="http://schemas.microsoft.com/office/drawing/2014/main" id="{4BEBC701-36E0-A6F1-5191-B54DBEC4BE85}"/>
              </a:ext>
            </a:extLst>
          </p:cNvPr>
          <p:cNvSpPr>
            <a:spLocks noGrp="1" noChangeArrowheads="1"/>
          </p:cNvSpPr>
          <p:nvPr>
            <p:ph type="body" idx="1"/>
          </p:nvPr>
        </p:nvSpPr>
        <p:spPr/>
        <p:txBody>
          <a:bodyPr/>
          <a:lstStyle/>
          <a:p>
            <a:pPr eaLnBrk="1" hangingPunct="1"/>
            <a:endParaRPr lang="en-US" altLang="en-US">
              <a:solidFill>
                <a:schemeClr val="hlink"/>
              </a:solidFill>
              <a:latin typeface="Garamond" panose="02020404030301010803" pitchFamily="18" charset="0"/>
            </a:endParaRPr>
          </a:p>
          <a:p>
            <a:pPr eaLnBrk="1" hangingPunct="1"/>
            <a:r>
              <a:rPr lang="en-US" altLang="en-US">
                <a:solidFill>
                  <a:schemeClr val="hlink"/>
                </a:solidFill>
                <a:latin typeface="Garamond" panose="02020404030301010803" pitchFamily="18" charset="0"/>
              </a:rPr>
              <a:t>参见讲义</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5582C92A-EE1A-2696-5E9D-B1976F2FBFCA}"/>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第三步</a:t>
            </a:r>
          </a:p>
        </p:txBody>
      </p:sp>
      <p:sp>
        <p:nvSpPr>
          <p:cNvPr id="96259" name="Rectangle 3">
            <a:extLst>
              <a:ext uri="{FF2B5EF4-FFF2-40B4-BE49-F238E27FC236}">
                <a16:creationId xmlns:a16="http://schemas.microsoft.com/office/drawing/2014/main" id="{321A26E2-5092-A7A5-40DD-E1C79CF87D03}"/>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陈述我们的需要</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但…</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我们需要要了解自己，了解在特定情况下需要正在满足和未满足的情况。</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p:txBody>
      </p:sp>
    </p:spTree>
  </p:cSld>
  <p:clrMapOvr>
    <a:masterClrMapping/>
  </p:clrMapOvr>
  <p:transition>
    <p:wedge/>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CF4A81A3-CF15-4754-028E-FB7496D38B94}"/>
              </a:ext>
            </a:extLst>
          </p:cNvPr>
          <p:cNvSpPr>
            <a:spLocks noGrp="1" noChangeArrowheads="1"/>
          </p:cNvSpPr>
          <p:nvPr>
            <p:ph type="title"/>
          </p:nvPr>
        </p:nvSpPr>
        <p:spPr/>
        <p:txBody>
          <a:bodyPr/>
          <a:lstStyle/>
          <a:p>
            <a:pPr algn="ctr" eaLnBrk="1" hangingPunct="1"/>
            <a:r>
              <a:rPr lang="en-US" altLang="en-US" sz="3200">
                <a:latin typeface="Freestyle Script" panose="030804020302050B0404" pitchFamily="66" charset="0"/>
              </a:rPr>
              <a:t>为我们的 感受 负责/了</a:t>
            </a:r>
            <a:br>
              <a:rPr lang="en-US" altLang="en-US" sz="3200">
                <a:latin typeface="Freestyle Script" panose="030804020302050B0404" pitchFamily="66" charset="0"/>
              </a:rPr>
            </a:br>
            <a:r>
              <a:rPr lang="en-US" altLang="en-US" sz="3200">
                <a:latin typeface="Freestyle Script" panose="030804020302050B0404" pitchFamily="66" charset="0"/>
              </a:rPr>
              <a:t>解我们的 需要</a:t>
            </a:r>
          </a:p>
        </p:txBody>
      </p:sp>
      <p:sp>
        <p:nvSpPr>
          <p:cNvPr id="61443" name="Rectangle 3">
            <a:extLst>
              <a:ext uri="{FF2B5EF4-FFF2-40B4-BE49-F238E27FC236}">
                <a16:creationId xmlns:a16="http://schemas.microsoft.com/office/drawing/2014/main" id="{82CB3E86-226A-AE77-EFBF-B2758336B549}"/>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对于 NVC（非暴力沟通） 来说，重要的是要理解我们的 感受 是满足和未满足 需要 的结果。</a:t>
            </a:r>
          </a:p>
          <a:p>
            <a:pPr eaLnBrk="1" hangingPunct="1"/>
            <a:r>
              <a:rPr lang="en-US" altLang="en-US">
                <a:solidFill>
                  <a:schemeClr val="hlink"/>
                </a:solidFill>
                <a:latin typeface="Garamond" panose="02020404030301010803" pitchFamily="18" charset="0"/>
              </a:rPr>
              <a:t>别人的行为可能是</a:t>
            </a:r>
            <a:r>
              <a:rPr lang="en-US" altLang="en-US" u="sng">
                <a:solidFill>
                  <a:schemeClr val="hlink"/>
                </a:solidFill>
                <a:latin typeface="Garamond" panose="02020404030301010803" pitchFamily="18" charset="0"/>
              </a:rPr>
              <a:t>我们感</a:t>
            </a:r>
            <a:r>
              <a:rPr lang="en-US" altLang="en-US">
                <a:solidFill>
                  <a:schemeClr val="hlink"/>
                </a:solidFill>
                <a:latin typeface="Garamond" panose="02020404030301010803" pitchFamily="18" charset="0"/>
              </a:rPr>
              <a:t>受的刺激，但不是原因。</a:t>
            </a:r>
          </a:p>
          <a:p>
            <a:pPr eaLnBrk="1" hangingPunct="1"/>
            <a:r>
              <a:rPr lang="en-US" altLang="en-US">
                <a:solidFill>
                  <a:schemeClr val="hlink"/>
                </a:solidFill>
                <a:latin typeface="Garamond" panose="02020404030301010803" pitchFamily="18" charset="0"/>
              </a:rPr>
              <a:t>我们的感受而是我们如何选择接</a:t>
            </a:r>
            <a:r>
              <a:rPr lang="en-US" altLang="en-US" u="sng">
                <a:solidFill>
                  <a:schemeClr val="hlink"/>
                </a:solidFill>
                <a:latin typeface="Garamond" panose="02020404030301010803" pitchFamily="18" charset="0"/>
              </a:rPr>
              <a:t>受他</a:t>
            </a:r>
            <a:r>
              <a:rPr lang="en-US" altLang="en-US">
                <a:solidFill>
                  <a:schemeClr val="hlink"/>
                </a:solidFill>
                <a:latin typeface="Garamond" panose="02020404030301010803" pitchFamily="18" charset="0"/>
              </a:rPr>
              <a:t>人所说和所做的结果，以及我们在那一刻的特定需要和期望的结果。</a:t>
            </a:r>
            <a:r>
              <a:rPr lang="en-US" altLang="en-U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P spid="61443" grpId="1" uiExpand="1"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6F92A86-496E-8044-F113-C3E76B10D8A3}"/>
              </a:ext>
            </a:extLst>
          </p:cNvPr>
          <p:cNvSpPr>
            <a:spLocks noGrp="1" noChangeArrowheads="1"/>
          </p:cNvSpPr>
          <p:nvPr>
            <p:ph type="title"/>
          </p:nvPr>
        </p:nvSpPr>
        <p:spPr/>
        <p:txBody>
          <a:bodyPr/>
          <a:lstStyle/>
          <a:p>
            <a:pPr algn="ctr" eaLnBrk="1" hangingPunct="1"/>
            <a:r>
              <a:rPr lang="en-US" altLang="en-US" sz="3200">
                <a:latin typeface="Freestyle Script" panose="030804020302050B0404" pitchFamily="66" charset="0"/>
              </a:rPr>
              <a:t>收到负面消息时的四种选择： 示例</a:t>
            </a:r>
            <a:br>
              <a:rPr lang="en-US" altLang="en-US" sz="3200">
                <a:latin typeface="Freestyle Script" panose="030804020302050B0404" pitchFamily="66" charset="0"/>
              </a:rPr>
            </a:br>
            <a:r>
              <a:rPr lang="en-US" altLang="en-US" sz="1800" b="1">
                <a:latin typeface="Garamond" panose="02020404030301010803" pitchFamily="18" charset="0"/>
              </a:rPr>
              <a:t>某人</a:t>
            </a:r>
            <a:br>
              <a:rPr lang="en-US" altLang="en-US" sz="3200" b="1">
                <a:latin typeface="Garamond" panose="02020404030301010803" pitchFamily="18" charset="0"/>
              </a:rPr>
            </a:br>
            <a:r>
              <a:rPr lang="en-US" altLang="en-US" sz="1600" b="1">
                <a:latin typeface="Garamond" panose="02020404030301010803" pitchFamily="18" charset="0"/>
              </a:rPr>
              <a:t>说：“你是我认识的最以自我为中心的人！”</a:t>
            </a:r>
            <a:endParaRPr lang="en-US" altLang="en-US" sz="3200" b="1">
              <a:latin typeface="Garamond" panose="02020404030301010803" pitchFamily="18" charset="0"/>
            </a:endParaRPr>
          </a:p>
        </p:txBody>
      </p:sp>
      <p:sp>
        <p:nvSpPr>
          <p:cNvPr id="62467" name="Rectangle 3">
            <a:extLst>
              <a:ext uri="{FF2B5EF4-FFF2-40B4-BE49-F238E27FC236}">
                <a16:creationId xmlns:a16="http://schemas.microsoft.com/office/drawing/2014/main" id="{38DED35D-3CB9-94BE-1F82-5F7D0CDBA740}"/>
              </a:ext>
            </a:extLst>
          </p:cNvPr>
          <p:cNvSpPr>
            <a:spLocks noGrp="1" noChangeArrowheads="1"/>
          </p:cNvSpPr>
          <p:nvPr>
            <p:ph type="body" sz="half" idx="1"/>
          </p:nvPr>
        </p:nvSpPr>
        <p:spPr>
          <a:xfrm>
            <a:off x="1370013" y="1827213"/>
            <a:ext cx="3589337" cy="4114800"/>
          </a:xfrm>
        </p:spPr>
        <p:txBody>
          <a:bodyPr/>
          <a:lstStyle/>
          <a:p>
            <a:pPr marL="609600" indent="-609600" eaLnBrk="1" hangingPunct="1">
              <a:buFontTx/>
              <a:buAutoNum type="arabicPeriod"/>
            </a:pPr>
            <a:r>
              <a:rPr lang="en-US" altLang="en-US" sz="2100">
                <a:solidFill>
                  <a:schemeClr val="hlink"/>
                </a:solidFill>
                <a:latin typeface="Garamond" panose="02020404030301010803" pitchFamily="18" charset="0"/>
              </a:rPr>
              <a:t>指责我们自己</a:t>
            </a:r>
          </a:p>
          <a:p>
            <a:pPr marL="609600" indent="-609600" eaLnBrk="1" hangingPunct="1">
              <a:buFontTx/>
              <a:buAutoNum type="arabicPeriod"/>
            </a:pPr>
            <a:endParaRPr lang="en-US" altLang="en-US" sz="2100">
              <a:solidFill>
                <a:schemeClr val="hlink"/>
              </a:solidFill>
              <a:latin typeface="Garamond" panose="02020404030301010803" pitchFamily="18" charset="0"/>
            </a:endParaRPr>
          </a:p>
          <a:p>
            <a:pPr marL="609600" indent="-609600" eaLnBrk="1" hangingPunct="1">
              <a:buFontTx/>
              <a:buAutoNum type="arabicPeriod"/>
            </a:pPr>
            <a:r>
              <a:rPr lang="en-US" altLang="en-US" sz="2100">
                <a:solidFill>
                  <a:schemeClr val="hlink"/>
                </a:solidFill>
                <a:latin typeface="Garamond" panose="02020404030301010803" pitchFamily="18" charset="0"/>
              </a:rPr>
              <a:t>指责其他</a:t>
            </a:r>
          </a:p>
          <a:p>
            <a:pPr marL="609600" indent="-609600" eaLnBrk="1" hangingPunct="1">
              <a:buFontTx/>
              <a:buAutoNum type="arabicPeriod"/>
            </a:pPr>
            <a:endParaRPr lang="en-US" altLang="en-US" sz="2100">
              <a:solidFill>
                <a:schemeClr val="hlink"/>
              </a:solidFill>
              <a:latin typeface="Garamond" panose="02020404030301010803" pitchFamily="18" charset="0"/>
            </a:endParaRPr>
          </a:p>
          <a:p>
            <a:pPr marL="609600" indent="-609600" eaLnBrk="1" hangingPunct="1">
              <a:buFontTx/>
              <a:buAutoNum type="arabicPeriod"/>
            </a:pPr>
            <a:r>
              <a:rPr lang="en-US" altLang="en-US" sz="2100">
                <a:solidFill>
                  <a:schemeClr val="hlink"/>
                </a:solidFill>
                <a:latin typeface="Garamond" panose="02020404030301010803" pitchFamily="18" charset="0"/>
              </a:rPr>
              <a:t>感知我们自己的感受和需要</a:t>
            </a:r>
          </a:p>
          <a:p>
            <a:pPr marL="609600" indent="-609600" eaLnBrk="1" hangingPunct="1">
              <a:buFontTx/>
              <a:buAutoNum type="arabicPeriod"/>
            </a:pPr>
            <a:endParaRPr lang="en-US" altLang="en-US" sz="2100">
              <a:solidFill>
                <a:schemeClr val="hlink"/>
              </a:solidFill>
              <a:latin typeface="Garamond" panose="02020404030301010803" pitchFamily="18" charset="0"/>
            </a:endParaRPr>
          </a:p>
          <a:p>
            <a:pPr marL="609600" indent="-609600" eaLnBrk="1" hangingPunct="1">
              <a:buFontTx/>
              <a:buAutoNum type="arabicPeriod"/>
            </a:pPr>
            <a:r>
              <a:rPr lang="en-US" altLang="en-US" sz="2100">
                <a:solidFill>
                  <a:schemeClr val="hlink"/>
                </a:solidFill>
                <a:latin typeface="Garamond" panose="02020404030301010803" pitchFamily="18" charset="0"/>
              </a:rPr>
              <a:t>感知他人的感受和需要</a:t>
            </a:r>
          </a:p>
        </p:txBody>
      </p:sp>
      <p:sp>
        <p:nvSpPr>
          <p:cNvPr id="62468" name="Rectangle 4">
            <a:extLst>
              <a:ext uri="{FF2B5EF4-FFF2-40B4-BE49-F238E27FC236}">
                <a16:creationId xmlns:a16="http://schemas.microsoft.com/office/drawing/2014/main" id="{AAF80B60-5C1E-C231-2C0E-99284A040BC8}"/>
              </a:ext>
            </a:extLst>
          </p:cNvPr>
          <p:cNvSpPr>
            <a:spLocks noGrp="1" noChangeArrowheads="1"/>
          </p:cNvSpPr>
          <p:nvPr>
            <p:ph type="body" sz="half" idx="2"/>
          </p:nvPr>
        </p:nvSpPr>
        <p:spPr>
          <a:xfrm>
            <a:off x="5094288" y="1827213"/>
            <a:ext cx="3589337" cy="4114800"/>
          </a:xfrm>
        </p:spPr>
        <p:txBody>
          <a:bodyPr/>
          <a:lstStyle/>
          <a:p>
            <a:pPr marL="533400" indent="-533400" eaLnBrk="1" hangingPunct="1">
              <a:buFontTx/>
              <a:buAutoNum type="arabicPeriod"/>
            </a:pPr>
            <a:r>
              <a:rPr lang="en-US" altLang="en-US" sz="2100">
                <a:solidFill>
                  <a:schemeClr val="hlink"/>
                </a:solidFill>
                <a:latin typeface="Garamond" panose="02020404030301010803" pitchFamily="18" charset="0"/>
              </a:rPr>
              <a:t>“我应该更敏感一些”</a:t>
            </a:r>
          </a:p>
          <a:p>
            <a:pPr marL="533400" indent="-533400" eaLnBrk="1" hangingPunct="1">
              <a:buFontTx/>
              <a:buAutoNum type="arabicPeriod"/>
            </a:pPr>
            <a:r>
              <a:rPr lang="en-US" altLang="en-US" sz="2100">
                <a:solidFill>
                  <a:schemeClr val="hlink"/>
                </a:solidFill>
                <a:latin typeface="Garamond" panose="02020404030301010803" pitchFamily="18" charset="0"/>
              </a:rPr>
              <a:t>“你没有资格这么说！”</a:t>
            </a:r>
          </a:p>
          <a:p>
            <a:pPr marL="533400" indent="-533400" eaLnBrk="1" hangingPunct="1">
              <a:buFontTx/>
              <a:buAutoNum type="arabicPeriod"/>
            </a:pPr>
            <a:r>
              <a:rPr lang="en-US" altLang="en-US" sz="2100">
                <a:solidFill>
                  <a:schemeClr val="hlink"/>
                </a:solidFill>
                <a:latin typeface="Garamond" panose="02020404030301010803" pitchFamily="18" charset="0"/>
              </a:rPr>
              <a:t>“当我听到你说我感到受伤，因为我需要承认了我的优点”</a:t>
            </a:r>
          </a:p>
          <a:p>
            <a:pPr marL="533400" indent="-533400" eaLnBrk="1" hangingPunct="1">
              <a:buFontTx/>
              <a:buAutoNum type="arabicPeriod"/>
            </a:pPr>
            <a:r>
              <a:rPr lang="en-US" altLang="en-US" sz="2100">
                <a:solidFill>
                  <a:schemeClr val="hlink"/>
                </a:solidFill>
                <a:latin typeface="Garamond" panose="02020404030301010803" pitchFamily="18" charset="0"/>
              </a:rPr>
              <a:t>“你感受是否因为需要更多地考虑自己的喜好而受到伤害？”</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AA1F328-84F6-3702-3719-9CA0B77C674F}"/>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为我们的 感受 承担责</a:t>
            </a:r>
            <a:r>
              <a:rPr lang="en-US" altLang="en-US"/>
              <a:t/>
            </a:r>
            <a:br>
              <a:rPr lang="en-US" altLang="en-US"/>
            </a:br>
            <a:r>
              <a:rPr lang="en-US" altLang="en-US" sz="2400">
                <a:solidFill>
                  <a:schemeClr val="hlink"/>
                </a:solidFill>
                <a:latin typeface="Garamond" panose="02020404030301010803" pitchFamily="18" charset="0"/>
              </a:rPr>
              <a:t>任 承担责任的步骤：</a:t>
            </a:r>
            <a:endParaRPr lang="en-US" altLang="en-US"/>
          </a:p>
        </p:txBody>
      </p:sp>
      <p:sp>
        <p:nvSpPr>
          <p:cNvPr id="64515" name="Rectangle 3">
            <a:extLst>
              <a:ext uri="{FF2B5EF4-FFF2-40B4-BE49-F238E27FC236}">
                <a16:creationId xmlns:a16="http://schemas.microsoft.com/office/drawing/2014/main" id="{A6BFFDA7-EB32-87B1-865C-31D14C43713A}"/>
              </a:ext>
            </a:extLst>
          </p:cNvPr>
          <p:cNvSpPr>
            <a:spLocks noGrp="1" noChangeArrowheads="1"/>
          </p:cNvSpPr>
          <p:nvPr>
            <p:ph type="body" idx="1"/>
          </p:nvPr>
        </p:nvSpPr>
        <p:spPr/>
        <p:txBody>
          <a:bodyPr/>
          <a:lstStyle/>
          <a:p>
            <a:pPr eaLnBrk="1" hangingPunct="1">
              <a:lnSpc>
                <a:spcPct val="90000"/>
              </a:lnSpc>
            </a:pPr>
            <a:r>
              <a:rPr lang="en-US" altLang="en-US" sz="2100">
                <a:solidFill>
                  <a:schemeClr val="hlink"/>
                </a:solidFill>
                <a:latin typeface="Garamond" panose="02020404030301010803" pitchFamily="18" charset="0"/>
              </a:rPr>
              <a:t>将 感受 与 需要 连接：</a:t>
            </a:r>
          </a:p>
          <a:p>
            <a:pPr lvl="1" eaLnBrk="1" hangingPunct="1">
              <a:lnSpc>
                <a:spcPct val="90000"/>
              </a:lnSpc>
            </a:pPr>
            <a:r>
              <a:rPr lang="en-US" altLang="en-US" sz="1900" b="1">
                <a:solidFill>
                  <a:schemeClr val="hlink"/>
                </a:solidFill>
                <a:latin typeface="Garamond" panose="02020404030301010803" pitchFamily="18" charset="0"/>
                <a:ea typeface="ＭＳ Ｐゴシック" panose="020B0600070205080204" pitchFamily="34" charset="-128"/>
              </a:rPr>
              <a:t>我觉得……因为我需要……</a:t>
            </a:r>
            <a:r>
              <a:rPr lang="en-US" altLang="en-US" sz="1900">
                <a:solidFill>
                  <a:schemeClr val="hlink"/>
                </a:solidFill>
                <a:latin typeface="Garamond" panose="02020404030301010803" pitchFamily="18" charset="0"/>
                <a:ea typeface="ＭＳ Ｐゴシック" panose="020B0600070205080204" pitchFamily="34" charset="-128"/>
              </a:rPr>
              <a:t/>
            </a:r>
          </a:p>
          <a:p>
            <a:pPr eaLnBrk="1" hangingPunct="1">
              <a:lnSpc>
                <a:spcPct val="90000"/>
              </a:lnSpc>
            </a:pPr>
            <a:endParaRPr lang="en-US" altLang="en-US" sz="2100">
              <a:solidFill>
                <a:schemeClr val="hlink"/>
              </a:solidFill>
              <a:latin typeface="Garamond" panose="02020404030301010803" pitchFamily="18" charset="0"/>
            </a:endParaRPr>
          </a:p>
          <a:p>
            <a:pPr eaLnBrk="1" hangingPunct="1">
              <a:lnSpc>
                <a:spcPct val="90000"/>
              </a:lnSpc>
            </a:pPr>
            <a:r>
              <a:rPr lang="en-US" altLang="en-US" sz="2100">
                <a:solidFill>
                  <a:schemeClr val="hlink"/>
                </a:solidFill>
                <a:latin typeface="Garamond" panose="02020404030301010803" pitchFamily="18" charset="0"/>
              </a:rPr>
              <a:t>区分发自内心的奉献和受 内疚 的激励。</a:t>
            </a:r>
          </a:p>
          <a:p>
            <a:pPr eaLnBrk="1" hangingPunct="1">
              <a:lnSpc>
                <a:spcPct val="90000"/>
              </a:lnSpc>
            </a:pPr>
            <a:endParaRPr lang="en-US" altLang="en-US" sz="2100">
              <a:solidFill>
                <a:schemeClr val="hlink"/>
              </a:solidFill>
              <a:latin typeface="Garamond" panose="02020404030301010803" pitchFamily="18" charset="0"/>
            </a:endParaRPr>
          </a:p>
          <a:p>
            <a:pPr eaLnBrk="1" hangingPunct="1">
              <a:lnSpc>
                <a:spcPct val="90000"/>
              </a:lnSpc>
            </a:pPr>
            <a:r>
              <a:rPr lang="en-US" altLang="en-US" sz="2100">
                <a:solidFill>
                  <a:schemeClr val="hlink"/>
                </a:solidFill>
                <a:latin typeface="Garamond" panose="02020404030301010803" pitchFamily="18" charset="0"/>
              </a:rPr>
              <a:t>“我一次又一次的经验表明，从人们开始谈论他们需要而不是彼此的问题那一刻起，找到满足每个人需要的方法的可能性就大大增加了”-Rosenberg</a:t>
            </a:r>
          </a:p>
          <a:p>
            <a:pPr eaLnBrk="1" hangingPunct="1">
              <a:lnSpc>
                <a:spcPct val="90000"/>
              </a:lnSpc>
            </a:pPr>
            <a:endParaRPr lang="en-US" altLang="en-US" sz="2100">
              <a:solidFill>
                <a:schemeClr val="hlink"/>
              </a:solidFill>
              <a:latin typeface="Garamond" panose="02020404030301010803" pitchFamily="18" charset="0"/>
            </a:endParaRPr>
          </a:p>
          <a:p>
            <a:pPr eaLnBrk="1" hangingPunct="1">
              <a:lnSpc>
                <a:spcPct val="90000"/>
              </a:lnSpc>
            </a:pPr>
            <a:r>
              <a:rPr lang="en-US" altLang="en-US" sz="2100">
                <a:solidFill>
                  <a:schemeClr val="hlink"/>
                </a:solidFill>
                <a:latin typeface="Garamond" panose="02020404030301010803" pitchFamily="18" charset="0"/>
              </a:rPr>
              <a:t>需要列表，参见讲义</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F347BEFC-1E5E-609F-C407-74D2FE013528}"/>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第四步</a:t>
            </a:r>
          </a:p>
        </p:txBody>
      </p:sp>
      <p:sp>
        <p:nvSpPr>
          <p:cNvPr id="97283" name="Rectangle 3">
            <a:extLst>
              <a:ext uri="{FF2B5EF4-FFF2-40B4-BE49-F238E27FC236}">
                <a16:creationId xmlns:a16="http://schemas.microsoft.com/office/drawing/2014/main" id="{B6933A3C-1876-F4DD-0287-5BEC092F916D}"/>
              </a:ext>
            </a:extLst>
          </p:cNvPr>
          <p:cNvSpPr>
            <a:spLocks noGrp="1" noChangeArrowheads="1"/>
          </p:cNvSpPr>
          <p:nvPr>
            <p:ph type="body" idx="1"/>
          </p:nvPr>
        </p:nvSpPr>
        <p:spPr/>
        <p:txBody>
          <a:bodyPr/>
          <a:lstStyle/>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制作 请求</a:t>
            </a: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为了丰富生活</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但…</a:t>
            </a:r>
          </a:p>
          <a:p>
            <a:pPr algn="ctr" eaLnBrk="1" hangingPunct="1">
              <a:buFont typeface="Wingdings" panose="05000000000000000000" pitchFamily="2" charset="2"/>
              <a:buNone/>
            </a:pPr>
            <a:endParaRPr lang="en-US" altLang="en-US">
              <a:solidFill>
                <a:schemeClr val="hlink"/>
              </a:solidFill>
              <a:latin typeface="Garamond" panose="02020404030301010803" pitchFamily="18" charset="0"/>
            </a:endParaRPr>
          </a:p>
          <a:p>
            <a:pPr algn="ctr" eaLnBrk="1" hangingPunct="1">
              <a:buFont typeface="Wingdings" panose="05000000000000000000" pitchFamily="2" charset="2"/>
              <a:buNone/>
            </a:pPr>
            <a:r>
              <a:rPr lang="en-US" altLang="en-US">
                <a:solidFill>
                  <a:schemeClr val="hlink"/>
                </a:solidFill>
                <a:latin typeface="Garamond" panose="02020404030301010803" pitchFamily="18" charset="0"/>
              </a:rPr>
              <a:t>确保它不是 要求</a:t>
            </a:r>
          </a:p>
        </p:txBody>
      </p:sp>
    </p:spTree>
  </p:cSld>
  <p:clrMapOvr>
    <a:masterClrMapping/>
  </p:clrMapOvr>
  <p:transition>
    <p:wedge/>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8">
            <a:extLst>
              <a:ext uri="{FF2B5EF4-FFF2-40B4-BE49-F238E27FC236}">
                <a16:creationId xmlns:a16="http://schemas.microsoft.com/office/drawing/2014/main" id="{31369040-95E3-353B-0A27-7BBF24B92CBA}"/>
              </a:ext>
            </a:extLst>
          </p:cNvPr>
          <p:cNvSpPr>
            <a:spLocks noGrp="1" noChangeArrowheads="1"/>
          </p:cNvSpPr>
          <p:nvPr>
            <p:ph type="ctrTitle"/>
          </p:nvPr>
        </p:nvSpPr>
        <p:spPr>
          <a:xfrm>
            <a:off x="762000" y="609600"/>
            <a:ext cx="7772400" cy="1431925"/>
          </a:xfrm>
        </p:spPr>
        <p:txBody>
          <a:bodyPr/>
          <a:lstStyle/>
          <a:p>
            <a:pPr eaLnBrk="1" hangingPunct="1"/>
            <a:r>
              <a:rPr lang="en-US" altLang="en-US">
                <a:solidFill>
                  <a:schemeClr val="tx1"/>
                </a:solidFill>
                <a:latin typeface="Freestyle Script" panose="030804020302050B0404" pitchFamily="66" charset="0"/>
              </a:rPr>
              <a:t>制作 请求 </a:t>
            </a:r>
            <a:br>
              <a:rPr lang="en-US" altLang="en-US">
                <a:solidFill>
                  <a:schemeClr val="tx1"/>
                </a:solidFill>
                <a:latin typeface="Freestyle Script" panose="030804020302050B0404" pitchFamily="66" charset="0"/>
              </a:rPr>
            </a:br>
            <a:r>
              <a:rPr lang="en-US" altLang="en-US" sz="2800">
                <a:solidFill>
                  <a:schemeClr val="hlink"/>
                </a:solidFill>
                <a:latin typeface="Garamond" panose="02020404030301010803" pitchFamily="18" charset="0"/>
              </a:rPr>
              <a:t>罗森伯</a:t>
            </a:r>
            <a:r>
              <a:rPr lang="en-US" altLang="en-US"/>
              <a:t>格</a:t>
            </a:r>
          </a:p>
        </p:txBody>
      </p:sp>
      <p:sp>
        <p:nvSpPr>
          <p:cNvPr id="68617" name="Rectangle 9">
            <a:extLst>
              <a:ext uri="{FF2B5EF4-FFF2-40B4-BE49-F238E27FC236}">
                <a16:creationId xmlns:a16="http://schemas.microsoft.com/office/drawing/2014/main" id="{733A4755-21C4-1796-ADC8-161DCE7A3714}"/>
              </a:ext>
            </a:extLst>
          </p:cNvPr>
          <p:cNvSpPr>
            <a:spLocks noGrp="1" noChangeArrowheads="1"/>
          </p:cNvSpPr>
          <p:nvPr>
            <p:ph type="subTitle" idx="1"/>
          </p:nvPr>
        </p:nvSpPr>
        <p:spPr>
          <a:xfrm>
            <a:off x="914400" y="2743200"/>
            <a:ext cx="7696200" cy="2971800"/>
          </a:xfrm>
        </p:spPr>
        <p:txBody>
          <a:bodyPr/>
          <a:lstStyle/>
          <a:p>
            <a:pPr eaLnBrk="1" hangingPunct="1">
              <a:lnSpc>
                <a:spcPct val="90000"/>
              </a:lnSpc>
              <a:buFont typeface="Wingdings" panose="05000000000000000000" pitchFamily="2" charset="2"/>
              <a:buNone/>
            </a:pPr>
            <a:r>
              <a:rPr lang="en-US" altLang="en-US" sz="2500">
                <a:solidFill>
                  <a:schemeClr val="hlink"/>
                </a:solidFill>
                <a:latin typeface="Garamond" panose="02020404030301010803" pitchFamily="18" charset="0"/>
              </a:rPr>
              <a:t>“我的信念是，每当我们对另一个人说些什么时，我们都是在要求得到一些回报。这可能只是一种同理心 连接，一种口头或非语言的确认。我们可能要求诚实：我们希望知道听者对我们的话的诚实反应。或者我们可能要求采取我们希望能够实现我们的 需要 的行动。我们越清楚我们希望从对方那里得到什么，我们就越有可能得到对方的回应。 需要将会得到满足。”</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DE41D87-308E-ED1E-7A56-8B51F029D578}"/>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祈求能够丰富生命的事物</a:t>
            </a:r>
          </a:p>
        </p:txBody>
      </p:sp>
      <p:sp>
        <p:nvSpPr>
          <p:cNvPr id="66563" name="Rectangle 3">
            <a:extLst>
              <a:ext uri="{FF2B5EF4-FFF2-40B4-BE49-F238E27FC236}">
                <a16:creationId xmlns:a16="http://schemas.microsoft.com/office/drawing/2014/main" id="{70281323-824A-E380-6B86-5308BE3A6C52}"/>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让 请求 变得清晰、积极和具体，因为这揭示了我们真正想要的东西。</a:t>
            </a:r>
          </a:p>
          <a:p>
            <a:pPr eaLnBrk="1" hangingPunct="1"/>
            <a:endParaRPr lang="en-US" altLang="en-US">
              <a:solidFill>
                <a:schemeClr val="hlink"/>
              </a:solidFill>
              <a:latin typeface="Garamond" panose="02020404030301010803" pitchFamily="18" charset="0"/>
            </a:endParaRPr>
          </a:p>
          <a:p>
            <a:pPr eaLnBrk="1" hangingPunct="1"/>
            <a:r>
              <a:rPr lang="en-US" altLang="en-US">
                <a:solidFill>
                  <a:schemeClr val="hlink"/>
                </a:solidFill>
                <a:latin typeface="Garamond" panose="02020404030301010803" pitchFamily="18" charset="0"/>
              </a:rPr>
              <a:t>请求 是 NVC（非暴力沟通） 的重要组成部分。  没有 请求 的 感受 可能无法按人们的意图进行解释。</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19E3073-0EAD-CF2C-0122-C08C17F51C91}"/>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发出请求请</a:t>
            </a:r>
            <a:br>
              <a:rPr lang="en-US" altLang="en-US" sz="3200"/>
            </a:br>
            <a:r>
              <a:rPr lang="en-US" altLang="en-US" sz="2400">
                <a:solidFill>
                  <a:schemeClr val="hlink"/>
                </a:solidFill>
                <a:latin typeface="Garamond" panose="02020404030301010803" pitchFamily="18" charset="0"/>
              </a:rPr>
              <a:t>求诗句 要求</a:t>
            </a:r>
            <a:r>
              <a:rPr lang="en-US" altLang="en-US" sz="3200"/>
              <a:t/>
            </a:r>
          </a:p>
        </p:txBody>
      </p:sp>
      <p:sp>
        <p:nvSpPr>
          <p:cNvPr id="67587" name="Rectangle 3">
            <a:extLst>
              <a:ext uri="{FF2B5EF4-FFF2-40B4-BE49-F238E27FC236}">
                <a16:creationId xmlns:a16="http://schemas.microsoft.com/office/drawing/2014/main" id="{33314E0B-1564-B482-B558-035AAA2B1639}"/>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请求 给对方留出说“是”或“否”的空间</a:t>
            </a:r>
          </a:p>
          <a:p>
            <a:pPr eaLnBrk="1" hangingPunct="1"/>
            <a:endParaRPr lang="en-US" altLang="en-US">
              <a:solidFill>
                <a:schemeClr val="hlink"/>
              </a:solidFill>
              <a:latin typeface="Garamond" panose="02020404030301010803" pitchFamily="18" charset="0"/>
            </a:endParaRPr>
          </a:p>
          <a:p>
            <a:pPr eaLnBrk="1" hangingPunct="1"/>
            <a:r>
              <a:rPr lang="en-US" altLang="en-US">
                <a:solidFill>
                  <a:schemeClr val="hlink"/>
                </a:solidFill>
                <a:latin typeface="Garamond" panose="02020404030301010803" pitchFamily="18" charset="0"/>
              </a:rPr>
              <a:t>要求只留下屈服或反抗的空间</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B6D5BAA8-184D-7BF7-0CE5-B85D0D6D9CD8}"/>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NVC（非暴力沟通） 的四个组成部分</a:t>
            </a:r>
          </a:p>
        </p:txBody>
      </p:sp>
      <p:sp>
        <p:nvSpPr>
          <p:cNvPr id="98307" name="Rectangle 3">
            <a:extLst>
              <a:ext uri="{FF2B5EF4-FFF2-40B4-BE49-F238E27FC236}">
                <a16:creationId xmlns:a16="http://schemas.microsoft.com/office/drawing/2014/main" id="{A47CBA1E-E4CE-DC72-4940-AE5CD22EF9FA}"/>
              </a:ext>
            </a:extLst>
          </p:cNvPr>
          <p:cNvSpPr>
            <a:spLocks noGrp="1" noChangeArrowheads="1"/>
          </p:cNvSpPr>
          <p:nvPr>
            <p:ph type="body" idx="1"/>
          </p:nvPr>
        </p:nvSpPr>
        <p:spPr>
          <a:xfrm>
            <a:off x="1370013" y="1828800"/>
            <a:ext cx="7313612" cy="4573588"/>
          </a:xfrm>
        </p:spPr>
        <p:txBody>
          <a:bodyPr/>
          <a:lstStyle/>
          <a:p>
            <a:pPr algn="ctr" eaLnBrk="1" hangingPunct="1">
              <a:buFont typeface="Wingdings" panose="05000000000000000000" pitchFamily="2" charset="2"/>
              <a:buNone/>
            </a:pPr>
            <a:r>
              <a:rPr lang="en-US" altLang="en-US"/>
              <a:t>观察</a:t>
            </a:r>
          </a:p>
          <a:p>
            <a:pPr algn="ctr" eaLnBrk="1" hangingPunct="1">
              <a:buFont typeface="Wingdings" panose="05000000000000000000" pitchFamily="2" charset="2"/>
              <a:buNone/>
            </a:pPr>
            <a:r>
              <a:rPr lang="en-US" altLang="en-US" sz="1500">
                <a:solidFill>
                  <a:schemeClr val="hlink"/>
                </a:solidFill>
              </a:rPr>
              <a:t>我们观察到的影响我们福祉的具体行动</a:t>
            </a:r>
          </a:p>
          <a:p>
            <a:pPr algn="ctr" eaLnBrk="1" hangingPunct="1">
              <a:buFont typeface="Wingdings" panose="05000000000000000000" pitchFamily="2" charset="2"/>
              <a:buNone/>
            </a:pPr>
            <a:r>
              <a:rPr lang="en-US" altLang="en-US"/>
              <a:t>感受</a:t>
            </a:r>
          </a:p>
          <a:p>
            <a:pPr algn="ctr" eaLnBrk="1" hangingPunct="1">
              <a:buFont typeface="Wingdings" panose="05000000000000000000" pitchFamily="2" charset="2"/>
              <a:buNone/>
            </a:pPr>
            <a:r>
              <a:rPr lang="en-US" altLang="en-US" sz="1500">
                <a:solidFill>
                  <a:schemeClr val="hlink"/>
                </a:solidFill>
              </a:rPr>
              <a:t>我们的感受与我们观察到的事物的关系</a:t>
            </a:r>
          </a:p>
          <a:p>
            <a:pPr algn="ctr" eaLnBrk="1" hangingPunct="1">
              <a:buFont typeface="Wingdings" panose="05000000000000000000" pitchFamily="2" charset="2"/>
              <a:buNone/>
            </a:pPr>
            <a:r>
              <a:rPr lang="en-US" altLang="en-US"/>
              <a:t>需要</a:t>
            </a:r>
          </a:p>
          <a:p>
            <a:pPr algn="ctr" eaLnBrk="1" hangingPunct="1">
              <a:buFont typeface="Wingdings" panose="05000000000000000000" pitchFamily="2" charset="2"/>
              <a:buNone/>
            </a:pPr>
            <a:r>
              <a:rPr lang="en-US" altLang="en-US" sz="1500">
                <a:solidFill>
                  <a:schemeClr val="hlink"/>
                </a:solidFill>
              </a:rPr>
              <a:t>需要、价值观、愿望创造了我们的感受</a:t>
            </a:r>
          </a:p>
          <a:p>
            <a:pPr algn="ctr" eaLnBrk="1" hangingPunct="1">
              <a:buFont typeface="Wingdings" panose="05000000000000000000" pitchFamily="2" charset="2"/>
              <a:buNone/>
            </a:pPr>
            <a:r>
              <a:rPr lang="en-US" altLang="en-US"/>
              <a:t>请求</a:t>
            </a:r>
          </a:p>
          <a:p>
            <a:pPr algn="ctr" eaLnBrk="1" hangingPunct="1">
              <a:buFont typeface="Wingdings" panose="05000000000000000000" pitchFamily="2" charset="2"/>
              <a:buNone/>
            </a:pPr>
            <a:r>
              <a:rPr lang="en-US" altLang="en-US" sz="1500">
                <a:solidFill>
                  <a:schemeClr val="hlink"/>
                </a:solidFill>
              </a:rPr>
              <a:t>我们的具体行动请求是为了丰富我们的生活。</a:t>
            </a:r>
          </a:p>
          <a:p>
            <a:pPr algn="ctr" eaLnBrk="1" hangingPunct="1">
              <a:buFont typeface="Wingdings" panose="05000000000000000000" pitchFamily="2" charset="2"/>
              <a:buNone/>
            </a:pPr>
            <a:endParaRPr lang="en-US" altLang="en-US" sz="1500">
              <a:solidFill>
                <a:schemeClr val="hlink"/>
              </a:solidFill>
            </a:endParaRPr>
          </a:p>
          <a:p>
            <a:pPr eaLnBrk="1" hangingPunct="1">
              <a:buFont typeface="Wingdings" panose="05000000000000000000" pitchFamily="2" charset="2"/>
              <a:buNone/>
            </a:pPr>
            <a:r>
              <a:rPr lang="en-US" altLang="en-US" sz="1500">
                <a:solidFill>
                  <a:schemeClr val="hlink"/>
                </a:solidFill>
              </a:rPr>
              <a:t>** 你坐在这里听我的演讲，我感到很感激，因为我有需要来分享我对NVC（非暴力沟通）的见解。  你们愿意听我剩下的演讲吗？**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98307">
                                            <p:txEl>
                                              <p:pRg st="9" end="9"/>
                                            </p:txEl>
                                          </p:spTgt>
                                        </p:tgtEl>
                                        <p:attrNameLst>
                                          <p:attrName>style.visibility</p:attrName>
                                        </p:attrNameLst>
                                      </p:cBhvr>
                                      <p:to>
                                        <p:strVal val="visible"/>
                                      </p:to>
                                    </p:set>
                                    <p:anim calcmode="lin" valueType="num">
                                      <p:cBhvr>
                                        <p:cTn id="7" dur="500" fill="hold"/>
                                        <p:tgtEl>
                                          <p:spTgt spid="98307">
                                            <p:txEl>
                                              <p:pRg st="9" end="9"/>
                                            </p:txEl>
                                          </p:spTgt>
                                        </p:tgtEl>
                                        <p:attrNameLst>
                                          <p:attrName>ppt_w</p:attrName>
                                        </p:attrNameLst>
                                      </p:cBhvr>
                                      <p:tavLst>
                                        <p:tav tm="0">
                                          <p:val>
                                            <p:fltVal val="0"/>
                                          </p:val>
                                        </p:tav>
                                        <p:tav tm="100000">
                                          <p:val>
                                            <p:strVal val="#ppt_w"/>
                                          </p:val>
                                        </p:tav>
                                      </p:tavLst>
                                    </p:anim>
                                    <p:anim calcmode="lin" valueType="num">
                                      <p:cBhvr>
                                        <p:cTn id="8" dur="500" fill="hold"/>
                                        <p:tgtEl>
                                          <p:spTgt spid="98307">
                                            <p:txEl>
                                              <p:pRg st="9" end="9"/>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p:bldP spid="98307"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7EE9307D-2FEE-D30D-B721-405B7A72885E}"/>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共情地接受</a:t>
            </a:r>
            <a:r>
              <a:rPr lang="en-US" altLang="en-US"/>
              <a:t/>
            </a:r>
          </a:p>
        </p:txBody>
      </p:sp>
      <p:sp>
        <p:nvSpPr>
          <p:cNvPr id="72707" name="Rectangle 3">
            <a:extLst>
              <a:ext uri="{FF2B5EF4-FFF2-40B4-BE49-F238E27FC236}">
                <a16:creationId xmlns:a16="http://schemas.microsoft.com/office/drawing/2014/main" id="{4A241BB6-AADC-116F-63A0-CA0E670EF306}"/>
              </a:ext>
            </a:extLst>
          </p:cNvPr>
          <p:cNvSpPr>
            <a:spLocks noGrp="1" noChangeArrowheads="1"/>
          </p:cNvSpPr>
          <p:nvPr>
            <p:ph type="body" idx="1"/>
          </p:nvPr>
        </p:nvSpPr>
        <p:spPr/>
        <p:txBody>
          <a:bodyPr/>
          <a:lstStyle/>
          <a:p>
            <a:pPr eaLnBrk="1" hangingPunct="1"/>
            <a:r>
              <a:rPr lang="en-US" altLang="en-US">
                <a:solidFill>
                  <a:schemeClr val="hlink"/>
                </a:solidFill>
                <a:latin typeface="Garamond" panose="02020404030301010803" pitchFamily="18" charset="0"/>
              </a:rPr>
              <a:t>NVC（非暴力沟通）的后半部分</a:t>
            </a:r>
          </a:p>
          <a:p>
            <a:pPr eaLnBrk="1" hangingPunct="1"/>
            <a:endParaRPr lang="en-US" altLang="en-US">
              <a:solidFill>
                <a:schemeClr val="hlink"/>
              </a:solidFill>
              <a:latin typeface="Garamond" panose="02020404030301010803" pitchFamily="18" charset="0"/>
            </a:endParaRPr>
          </a:p>
          <a:p>
            <a:pPr eaLnBrk="1" hangingPunct="1"/>
            <a:r>
              <a:rPr lang="en-US" altLang="en-US">
                <a:solidFill>
                  <a:schemeClr val="hlink"/>
                </a:solidFill>
                <a:latin typeface="Garamond" panose="02020404030301010803" pitchFamily="18" charset="0"/>
              </a:rPr>
              <a:t>我们所学到的一切现在都用来倾听别人的声音</a:t>
            </a:r>
          </a:p>
          <a:p>
            <a:pPr eaLnBrk="1" hangingPunct="1"/>
            <a:endParaRPr lang="en-US" altLang="en-US">
              <a:solidFill>
                <a:schemeClr val="hlink"/>
              </a:solidFill>
              <a:latin typeface="Garamond" panose="02020404030301010803" pitchFamily="18" charset="0"/>
            </a:endParaRPr>
          </a:p>
          <a:p>
            <a:pPr eaLnBrk="1" hangingPunct="1"/>
            <a:r>
              <a:rPr lang="en-US" altLang="en-US">
                <a:solidFill>
                  <a:schemeClr val="hlink"/>
                </a:solidFill>
                <a:latin typeface="Garamond" panose="02020404030301010803" pitchFamily="18" charset="0"/>
              </a:rPr>
              <a:t>就像我们说话的方式会阻碍 慈悲 一样，我们接收他人交流的方式也会阻碍 慈悲。</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09617B8F-8220-9709-0F6F-0A29BA684A26}"/>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阻止 同理心 的响应</a:t>
            </a:r>
            <a:r>
              <a:rPr lang="en-US" altLang="en-US"/>
              <a:t/>
            </a:r>
          </a:p>
        </p:txBody>
      </p:sp>
      <p:sp>
        <p:nvSpPr>
          <p:cNvPr id="73731" name="Rectangle 3">
            <a:extLst>
              <a:ext uri="{FF2B5EF4-FFF2-40B4-BE49-F238E27FC236}">
                <a16:creationId xmlns:a16="http://schemas.microsoft.com/office/drawing/2014/main" id="{7F55EBA9-1704-8514-65A8-6681E41A2797}"/>
              </a:ext>
            </a:extLst>
          </p:cNvPr>
          <p:cNvSpPr>
            <a:spLocks noGrp="1" noChangeArrowheads="1"/>
          </p:cNvSpPr>
          <p:nvPr>
            <p:ph type="body" sz="half" idx="1"/>
          </p:nvPr>
        </p:nvSpPr>
        <p:spPr>
          <a:xfrm>
            <a:off x="1370013" y="1827213"/>
            <a:ext cx="3589337" cy="4114800"/>
          </a:xfrm>
        </p:spPr>
        <p:txBody>
          <a:bodyPr/>
          <a:lstStyle/>
          <a:p>
            <a:pPr eaLnBrk="1" hangingPunct="1"/>
            <a:r>
              <a:rPr lang="en-US" altLang="en-US" sz="2500">
                <a:solidFill>
                  <a:schemeClr val="hlink"/>
                </a:solidFill>
                <a:latin typeface="Garamond" panose="02020404030301010803" pitchFamily="18" charset="0"/>
              </a:rPr>
              <a:t>提供建议</a:t>
            </a:r>
          </a:p>
          <a:p>
            <a:pPr eaLnBrk="1" hangingPunct="1"/>
            <a:endParaRPr lang="en-US" altLang="en-US" sz="900">
              <a:solidFill>
                <a:schemeClr val="hlink"/>
              </a:solidFill>
              <a:latin typeface="Garamond" panose="02020404030301010803" pitchFamily="18" charset="0"/>
            </a:endParaRPr>
          </a:p>
          <a:p>
            <a:pPr eaLnBrk="1" hangingPunct="1"/>
            <a:r>
              <a:rPr lang="en-US" altLang="en-US" sz="2500">
                <a:solidFill>
                  <a:schemeClr val="hlink"/>
                </a:solidFill>
                <a:latin typeface="Garamond" panose="02020404030301010803" pitchFamily="18" charset="0"/>
              </a:rPr>
              <a:t>教育</a:t>
            </a:r>
          </a:p>
          <a:p>
            <a:pPr eaLnBrk="1" hangingPunct="1"/>
            <a:endParaRPr lang="en-US" altLang="en-US" sz="2500">
              <a:solidFill>
                <a:schemeClr val="hlink"/>
              </a:solidFill>
              <a:latin typeface="Garamond" panose="02020404030301010803" pitchFamily="18" charset="0"/>
            </a:endParaRPr>
          </a:p>
          <a:p>
            <a:pPr eaLnBrk="1" hangingPunct="1"/>
            <a:r>
              <a:rPr lang="en-US" altLang="en-US" sz="2500">
                <a:solidFill>
                  <a:schemeClr val="hlink"/>
                </a:solidFill>
                <a:latin typeface="Garamond" panose="02020404030301010803" pitchFamily="18" charset="0"/>
              </a:rPr>
              <a:t>安慰</a:t>
            </a:r>
          </a:p>
          <a:p>
            <a:pPr eaLnBrk="1" hangingPunct="1"/>
            <a:r>
              <a:rPr lang="en-US" altLang="en-US" sz="2500">
                <a:solidFill>
                  <a:schemeClr val="hlink"/>
                </a:solidFill>
                <a:latin typeface="Garamond" panose="02020404030301010803" pitchFamily="18" charset="0"/>
              </a:rPr>
              <a:t>讲故事</a:t>
            </a:r>
          </a:p>
          <a:p>
            <a:pPr eaLnBrk="1" hangingPunct="1"/>
            <a:r>
              <a:rPr lang="en-US" altLang="en-US" sz="2500">
                <a:solidFill>
                  <a:schemeClr val="hlink"/>
                </a:solidFill>
                <a:latin typeface="Garamond" panose="02020404030301010803" pitchFamily="18" charset="0"/>
              </a:rPr>
              <a:t>同情</a:t>
            </a:r>
          </a:p>
          <a:p>
            <a:pPr eaLnBrk="1" hangingPunct="1"/>
            <a:r>
              <a:rPr lang="en-US" altLang="en-US" sz="2500">
                <a:solidFill>
                  <a:schemeClr val="hlink"/>
                </a:solidFill>
                <a:latin typeface="Garamond" panose="02020404030301010803" pitchFamily="18" charset="0"/>
              </a:rPr>
              <a:t>解释</a:t>
            </a:r>
          </a:p>
        </p:txBody>
      </p:sp>
      <p:sp>
        <p:nvSpPr>
          <p:cNvPr id="73732" name="Rectangle 4">
            <a:extLst>
              <a:ext uri="{FF2B5EF4-FFF2-40B4-BE49-F238E27FC236}">
                <a16:creationId xmlns:a16="http://schemas.microsoft.com/office/drawing/2014/main" id="{8B3ACF45-8E2E-22D5-7894-17D75912AC03}"/>
              </a:ext>
            </a:extLst>
          </p:cNvPr>
          <p:cNvSpPr>
            <a:spLocks noGrp="1" noChangeArrowheads="1"/>
          </p:cNvSpPr>
          <p:nvPr>
            <p:ph type="body" sz="half" idx="2"/>
          </p:nvPr>
        </p:nvSpPr>
        <p:spPr>
          <a:xfrm>
            <a:off x="5094288" y="1827213"/>
            <a:ext cx="3589337" cy="4114800"/>
          </a:xfrm>
        </p:spPr>
        <p:txBody>
          <a:bodyPr/>
          <a:lstStyle/>
          <a:p>
            <a:pPr eaLnBrk="1" hangingPunct="1"/>
            <a:r>
              <a:rPr lang="en-US" altLang="en-US" sz="2500">
                <a:solidFill>
                  <a:schemeClr val="hlink"/>
                </a:solidFill>
                <a:latin typeface="Garamond" panose="02020404030301010803" pitchFamily="18" charset="0"/>
              </a:rPr>
              <a:t>“我觉得你应该……”</a:t>
            </a:r>
          </a:p>
          <a:p>
            <a:pPr eaLnBrk="1" hangingPunct="1"/>
            <a:r>
              <a:rPr lang="en-US" altLang="en-US" sz="2500">
                <a:solidFill>
                  <a:schemeClr val="hlink"/>
                </a:solidFill>
                <a:latin typeface="Garamond" panose="02020404030301010803" pitchFamily="18" charset="0"/>
              </a:rPr>
              <a:t>“如果你……这可能会变成一次非常积极的经历。”</a:t>
            </a:r>
          </a:p>
          <a:p>
            <a:pPr eaLnBrk="1" hangingPunct="1"/>
            <a:r>
              <a:rPr lang="en-US" altLang="en-US" sz="2500">
                <a:solidFill>
                  <a:schemeClr val="hlink"/>
                </a:solidFill>
                <a:latin typeface="Garamond" panose="02020404030301010803" pitchFamily="18" charset="0"/>
              </a:rPr>
              <a:t>“这不是你的错……”</a:t>
            </a:r>
          </a:p>
          <a:p>
            <a:pPr eaLnBrk="1" hangingPunct="1"/>
            <a:r>
              <a:rPr lang="en-US" altLang="en-US" sz="2500">
                <a:solidFill>
                  <a:schemeClr val="hlink"/>
                </a:solidFill>
                <a:latin typeface="Garamond" panose="02020404030301010803" pitchFamily="18" charset="0"/>
              </a:rPr>
              <a:t>“这让我想起了”</a:t>
            </a:r>
          </a:p>
          <a:p>
            <a:pPr eaLnBrk="1" hangingPunct="1"/>
            <a:r>
              <a:rPr lang="en-US" altLang="en-US" sz="2500">
                <a:solidFill>
                  <a:schemeClr val="hlink"/>
                </a:solidFill>
                <a:latin typeface="Garamond" panose="02020404030301010803" pitchFamily="18" charset="0"/>
              </a:rPr>
              <a:t>“噢，你这个可怜的东西</a:t>
            </a:r>
          </a:p>
          <a:p>
            <a:pPr eaLnBrk="1" hangingPunct="1"/>
            <a:r>
              <a:rPr lang="en-US" altLang="en-US" sz="2500">
                <a:solidFill>
                  <a:schemeClr val="hlink"/>
                </a:solidFill>
                <a:latin typeface="Garamond" panose="02020404030301010803" pitchFamily="18" charset="0"/>
              </a:rPr>
              <a:t>“我愿意，但是……”</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BB66FA5B-363A-3AE2-A495-3BC8B174A6D0}"/>
              </a:ext>
            </a:extLst>
          </p:cNvPr>
          <p:cNvSpPr>
            <a:spLocks noGrp="1" noChangeArrowheads="1"/>
          </p:cNvSpPr>
          <p:nvPr>
            <p:ph type="title"/>
          </p:nvPr>
        </p:nvSpPr>
        <p:spPr/>
        <p:txBody>
          <a:bodyPr/>
          <a:lstStyle/>
          <a:p>
            <a:pPr algn="ctr" eaLnBrk="1" hangingPunct="1"/>
            <a:r>
              <a:rPr lang="en-US" altLang="en-US" sz="5400">
                <a:latin typeface="Freestyle Script" panose="030804020302050B0404" pitchFamily="66" charset="0"/>
              </a:rPr>
              <a:t>卡尔·罗杰斯</a:t>
            </a:r>
            <a:r>
              <a:rPr lang="en-US" altLang="en-US"/>
              <a:t/>
            </a:r>
          </a:p>
        </p:txBody>
      </p:sp>
      <p:sp>
        <p:nvSpPr>
          <p:cNvPr id="43011" name="Rectangle 3">
            <a:extLst>
              <a:ext uri="{FF2B5EF4-FFF2-40B4-BE49-F238E27FC236}">
                <a16:creationId xmlns:a16="http://schemas.microsoft.com/office/drawing/2014/main" id="{BB6D956E-63EA-C405-A7C8-E94B213A23C0}"/>
              </a:ext>
            </a:extLst>
          </p:cNvPr>
          <p:cNvSpPr>
            <a:spLocks noGrp="1" noChangeArrowheads="1"/>
          </p:cNvSpPr>
          <p:nvPr>
            <p:ph type="body" idx="1"/>
          </p:nvPr>
        </p:nvSpPr>
        <p:spPr>
          <a:xfrm>
            <a:off x="1370013" y="1827213"/>
            <a:ext cx="7313612" cy="1449387"/>
          </a:xfrm>
        </p:spPr>
        <p:txBody>
          <a:bodyPr/>
          <a:lstStyle/>
          <a:p>
            <a:pPr algn="ctr" eaLnBrk="1" hangingPunct="1">
              <a:buFont typeface="Wingdings" panose="05000000000000000000" pitchFamily="2" charset="2"/>
              <a:buNone/>
            </a:pPr>
            <a:r>
              <a:rPr lang="en-US" altLang="en-US" sz="2400">
                <a:solidFill>
                  <a:schemeClr val="tx2"/>
                </a:solidFill>
                <a:latin typeface="Garamond" panose="02020404030301010803" pitchFamily="18" charset="0"/>
              </a:rPr>
              <a:t>“当有人真正倾听你的声音时，却没有将 评判 传递给你，没有试图为你承担责任，也没有试图塑造你，那就感觉</a:t>
            </a:r>
          </a:p>
          <a:p>
            <a:pPr algn="ctr" eaLnBrk="1" hangingPunct="1">
              <a:buFont typeface="Wingdings" panose="05000000000000000000" pitchFamily="2" charset="2"/>
              <a:buNone/>
            </a:pPr>
            <a:endParaRPr lang="en-US" altLang="en-US" sz="2400">
              <a:solidFill>
                <a:schemeClr val="tx2"/>
              </a:solidFill>
              <a:latin typeface="Garamond" panose="02020404030301010803" pitchFamily="18" charset="0"/>
            </a:endParaRPr>
          </a:p>
        </p:txBody>
      </p:sp>
      <p:sp>
        <p:nvSpPr>
          <p:cNvPr id="51204" name="Text Box 4">
            <a:extLst>
              <a:ext uri="{FF2B5EF4-FFF2-40B4-BE49-F238E27FC236}">
                <a16:creationId xmlns:a16="http://schemas.microsoft.com/office/drawing/2014/main" id="{49D1FD46-0DEC-B5E2-597B-CFDC70AEE6E3}"/>
              </a:ext>
            </a:extLst>
          </p:cNvPr>
          <p:cNvSpPr txBox="1">
            <a:spLocks noChangeArrowheads="1"/>
          </p:cNvSpPr>
          <p:nvPr/>
        </p:nvSpPr>
        <p:spPr bwMode="auto">
          <a:xfrm>
            <a:off x="3352800" y="3124200"/>
            <a:ext cx="34448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ea typeface="ＭＳ Ｐゴシック" panose="020B0600070205080204" pitchFamily="34" charset="-128"/>
              </a:defRPr>
            </a:lvl1pPr>
            <a:lvl2pPr marL="742950" indent="-285750">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ea typeface="ＭＳ Ｐゴシック" panose="020B0600070205080204" pitchFamily="34" charset="-128"/>
              </a:defRPr>
            </a:lvl2pPr>
            <a:lvl3pPr marL="1143000" indent="-228600">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ea typeface="ＭＳ Ｐゴシック" panose="020B0600070205080204" pitchFamily="34" charset="-128"/>
              </a:defRPr>
            </a:lvl3pPr>
            <a:lvl4pPr marL="1600200" indent="-228600">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ea typeface="ＭＳ Ｐゴシック" panose="020B0600070205080204" pitchFamily="34" charset="-128"/>
              </a:defRPr>
            </a:lvl4pPr>
            <a:lvl5pPr marL="2057400" indent="-228600">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ea typeface="ＭＳ Ｐゴシック" panose="020B0600070205080204" pitchFamily="34" charset="-128"/>
              </a:defRPr>
            </a:lvl9pPr>
          </a:lstStyle>
          <a:p>
            <a:pPr algn="ctr">
              <a:spcBef>
                <a:spcPct val="0"/>
              </a:spcBef>
              <a:buClrTx/>
              <a:buSzTx/>
              <a:buFontTx/>
              <a:buNone/>
            </a:pPr>
            <a:r>
              <a:rPr lang="en-US" altLang="en-US" sz="1800" b="1">
                <a:solidFill>
                  <a:schemeClr val="tx2"/>
                </a:solidFill>
              </a:rPr>
              <a:t>真他妈好！</a:t>
            </a:r>
            <a:r>
              <a:rPr lang="en-US" altLang="en-US" sz="1800">
                <a:solidFill>
                  <a:schemeClr val="tx2"/>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1" presetClass="entr" presetSubtype="0" fill="hold"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fade">
                                      <p:cBhvr>
                                        <p:cTn id="7" dur="770" decel="100000"/>
                                        <p:tgtEl>
                                          <p:spTgt spid="51204"/>
                                        </p:tgtEl>
                                      </p:cBhvr>
                                    </p:animEffect>
                                    <p:animScale>
                                      <p:cBhvr>
                                        <p:cTn id="8" dur="770" decel="100000"/>
                                        <p:tgtEl>
                                          <p:spTgt spid="51204"/>
                                        </p:tgtEl>
                                      </p:cBhvr>
                                      <p:from x="10000" y="10000"/>
                                      <p:to x="200000" y="450000"/>
                                    </p:animScale>
                                    <p:animScale>
                                      <p:cBhvr>
                                        <p:cTn id="9" dur="1230" accel="100000" fill="hold">
                                          <p:stCondLst>
                                            <p:cond delay="770"/>
                                          </p:stCondLst>
                                        </p:cTn>
                                        <p:tgtEl>
                                          <p:spTgt spid="51204"/>
                                        </p:tgtEl>
                                      </p:cBhvr>
                                      <p:from x="200000" y="450000"/>
                                      <p:to x="100000" y="100000"/>
                                    </p:animScale>
                                    <p:set>
                                      <p:cBhvr>
                                        <p:cTn id="10" dur="770" fill="hold"/>
                                        <p:tgtEl>
                                          <p:spTgt spid="51204"/>
                                        </p:tgtEl>
                                        <p:attrNameLst>
                                          <p:attrName>ppt_x</p:attrName>
                                        </p:attrNameLst>
                                      </p:cBhvr>
                                      <p:to>
                                        <p:strVal val="(0.5)"/>
                                      </p:to>
                                    </p:set>
                                    <p:anim from="(0.5)" to="(#ppt_x)" calcmode="lin" valueType="num">
                                      <p:cBhvr>
                                        <p:cTn id="11" dur="1230" accel="100000" fill="hold">
                                          <p:stCondLst>
                                            <p:cond delay="770"/>
                                          </p:stCondLst>
                                        </p:cTn>
                                        <p:tgtEl>
                                          <p:spTgt spid="51204"/>
                                        </p:tgtEl>
                                        <p:attrNameLst>
                                          <p:attrName>ppt_x</p:attrName>
                                        </p:attrNameLst>
                                      </p:cBhvr>
                                    </p:anim>
                                    <p:set>
                                      <p:cBhvr>
                                        <p:cTn id="12" dur="770" fill="hold"/>
                                        <p:tgtEl>
                                          <p:spTgt spid="51204"/>
                                        </p:tgtEl>
                                        <p:attrNameLst>
                                          <p:attrName>ppt_y</p:attrName>
                                        </p:attrNameLst>
                                      </p:cBhvr>
                                      <p:to>
                                        <p:strVal val="(#ppt_y+0.4)"/>
                                      </p:to>
                                    </p:set>
                                    <p:anim from="(#ppt_y+0.4)" to="(#ppt_y)" calcmode="lin" valueType="num">
                                      <p:cBhvr>
                                        <p:cTn id="13" dur="1230" accel="100000" fill="hold">
                                          <p:stCondLst>
                                            <p:cond delay="770"/>
                                          </p:stCondLst>
                                        </p:cTn>
                                        <p:tgtEl>
                                          <p:spTgt spid="5120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8DBD387-0C8A-0D2D-1E57-547479CFD6D5}"/>
              </a:ext>
            </a:extLst>
          </p:cNvPr>
          <p:cNvSpPr>
            <a:spLocks noGrp="1" noChangeArrowheads="1"/>
          </p:cNvSpPr>
          <p:nvPr>
            <p:ph type="title"/>
          </p:nvPr>
        </p:nvSpPr>
        <p:spPr/>
        <p:txBody>
          <a:bodyPr/>
          <a:lstStyle/>
          <a:p>
            <a:pPr algn="ctr" eaLnBrk="1" hangingPunct="1"/>
            <a:r>
              <a:rPr lang="en-US" altLang="en-US" sz="4400">
                <a:latin typeface="Freestyle Script" panose="030804020302050B0404" pitchFamily="66" charset="0"/>
              </a:rPr>
              <a:t>监听 感受 和 需要</a:t>
            </a:r>
          </a:p>
        </p:txBody>
      </p:sp>
      <p:sp>
        <p:nvSpPr>
          <p:cNvPr id="75779" name="Rectangle 3">
            <a:extLst>
              <a:ext uri="{FF2B5EF4-FFF2-40B4-BE49-F238E27FC236}">
                <a16:creationId xmlns:a16="http://schemas.microsoft.com/office/drawing/2014/main" id="{3FF26E76-F8D1-9DFC-6A92-8B1ADD46A0A0}"/>
              </a:ext>
            </a:extLst>
          </p:cNvPr>
          <p:cNvSpPr>
            <a:spLocks noGrp="1" noChangeArrowheads="1"/>
          </p:cNvSpPr>
          <p:nvPr>
            <p:ph type="body" idx="1"/>
          </p:nvPr>
        </p:nvSpPr>
        <p:spPr/>
        <p:txBody>
          <a:bodyPr/>
          <a:lstStyle/>
          <a:p>
            <a:pPr eaLnBrk="1" hangingPunct="1">
              <a:lnSpc>
                <a:spcPct val="90000"/>
              </a:lnSpc>
            </a:pPr>
            <a:r>
              <a:rPr lang="en-US" altLang="en-US" sz="2500">
                <a:solidFill>
                  <a:schemeClr val="hlink"/>
                </a:solidFill>
                <a:latin typeface="Garamond" panose="02020404030301010803" pitchFamily="18" charset="0"/>
              </a:rPr>
              <a:t>无论人们用什么词来表达自己，我们都会倾听他们的 观察、感受、需要 和 请求。</a:t>
            </a:r>
          </a:p>
          <a:p>
            <a:pPr eaLnBrk="1" hangingPunct="1">
              <a:lnSpc>
                <a:spcPct val="90000"/>
              </a:lnSpc>
            </a:pPr>
            <a:endParaRPr lang="en-US" altLang="en-US" sz="2500">
              <a:solidFill>
                <a:schemeClr val="hlink"/>
              </a:solidFill>
              <a:latin typeface="Garamond" panose="02020404030301010803" pitchFamily="18" charset="0"/>
            </a:endParaRPr>
          </a:p>
          <a:p>
            <a:pPr eaLnBrk="1" hangingPunct="1">
              <a:lnSpc>
                <a:spcPct val="90000"/>
              </a:lnSpc>
            </a:pPr>
            <a:r>
              <a:rPr lang="en-US" altLang="en-US" sz="2500">
                <a:solidFill>
                  <a:schemeClr val="hlink"/>
                </a:solidFill>
                <a:latin typeface="Garamond" panose="02020404030301010803" pitchFamily="18" charset="0"/>
              </a:rPr>
              <a:t>然后将这一点反映给对方，表明我们正在倾听，同时给对方机会纠正我们。</a:t>
            </a:r>
          </a:p>
          <a:p>
            <a:pPr eaLnBrk="1" hangingPunct="1">
              <a:lnSpc>
                <a:spcPct val="90000"/>
              </a:lnSpc>
            </a:pPr>
            <a:endParaRPr lang="en-US" altLang="en-US" sz="2500">
              <a:solidFill>
                <a:schemeClr val="hlink"/>
              </a:solidFill>
              <a:latin typeface="Garamond" panose="02020404030301010803" pitchFamily="18" charset="0"/>
            </a:endParaRPr>
          </a:p>
          <a:p>
            <a:pPr eaLnBrk="1" hangingPunct="1">
              <a:lnSpc>
                <a:spcPct val="90000"/>
              </a:lnSpc>
            </a:pPr>
            <a:r>
              <a:rPr lang="en-US" altLang="en-US" sz="2500">
                <a:solidFill>
                  <a:schemeClr val="hlink"/>
                </a:solidFill>
                <a:latin typeface="Garamond" panose="02020404030301010803" pitchFamily="18" charset="0"/>
              </a:rPr>
              <a:t>我们通过倾听其他人的感受和需要来“说很多”。</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32514D6-92EB-D9B0-D80B-8868AA80D53F}"/>
              </a:ext>
            </a:extLst>
          </p:cNvPr>
          <p:cNvSpPr>
            <a:spLocks noGrp="1" noChangeArrowheads="1"/>
          </p:cNvSpPr>
          <p:nvPr>
            <p:ph type="title"/>
          </p:nvPr>
        </p:nvSpPr>
        <p:spPr/>
        <p:txBody>
          <a:bodyPr/>
          <a:lstStyle/>
          <a:p>
            <a:pPr algn="ctr" eaLnBrk="1" hangingPunct="1"/>
            <a:r>
              <a:rPr lang="en-US" altLang="en-US" sz="5400">
                <a:latin typeface="Freestyle Script" panose="030804020302050B0404" pitchFamily="66" charset="0"/>
              </a:rPr>
              <a:t>同理心 的力量</a:t>
            </a:r>
            <a:r>
              <a:rPr lang="en-US" altLang="en-US">
                <a:latin typeface="Freestyle Script" panose="030804020302050B0404" pitchFamily="66" charset="0"/>
              </a:rPr>
              <a:t/>
            </a:r>
          </a:p>
        </p:txBody>
      </p:sp>
      <p:sp>
        <p:nvSpPr>
          <p:cNvPr id="45059" name="Rectangle 3">
            <a:extLst>
              <a:ext uri="{FF2B5EF4-FFF2-40B4-BE49-F238E27FC236}">
                <a16:creationId xmlns:a16="http://schemas.microsoft.com/office/drawing/2014/main" id="{A936F294-81CE-38E6-9F90-60166C6352CD}"/>
              </a:ext>
            </a:extLst>
          </p:cNvPr>
          <p:cNvSpPr>
            <a:spLocks noGrp="1" noChangeArrowheads="1"/>
          </p:cNvSpPr>
          <p:nvPr>
            <p:ph type="body" idx="1"/>
          </p:nvPr>
        </p:nvSpPr>
        <p:spPr/>
        <p:txBody>
          <a:bodyPr/>
          <a:lstStyle/>
          <a:p>
            <a:pPr eaLnBrk="1" hangingPunct="1"/>
            <a:r>
              <a:rPr lang="en-US" altLang="en-US">
                <a:solidFill>
                  <a:schemeClr val="tx2"/>
                </a:solidFill>
              </a:rPr>
              <a:t>我们提供同理心的能力可以让我们保持脆弱，化解潜在的暴力，听到“不”这个词而不将其视为拒绝，恢复毫无生气的对话，甚至听到通过沉默表达的感受和需要。</a:t>
            </a:r>
            <a:r>
              <a:rPr lang="en-US" altLang="en-US"/>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4FCD686-8222-7BF4-9A45-0C246A243A3D}"/>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当痛苦阻碍我们的同理心时</a:t>
            </a:r>
            <a:r>
              <a:rPr lang="en-US" altLang="en-US"/>
              <a:t/>
            </a:r>
          </a:p>
        </p:txBody>
      </p:sp>
      <p:sp>
        <p:nvSpPr>
          <p:cNvPr id="76803" name="Rectangle 3">
            <a:extLst>
              <a:ext uri="{FF2B5EF4-FFF2-40B4-BE49-F238E27FC236}">
                <a16:creationId xmlns:a16="http://schemas.microsoft.com/office/drawing/2014/main" id="{170E969C-7E52-75F3-DEF8-E821B80D516D}"/>
              </a:ext>
            </a:extLst>
          </p:cNvPr>
          <p:cNvSpPr>
            <a:spLocks noGrp="1" noChangeArrowheads="1"/>
          </p:cNvSpPr>
          <p:nvPr>
            <p:ph type="body" idx="1"/>
          </p:nvPr>
        </p:nvSpPr>
        <p:spPr>
          <a:xfrm>
            <a:off x="838200" y="1752600"/>
            <a:ext cx="7313613" cy="4114800"/>
          </a:xfrm>
        </p:spPr>
        <p:txBody>
          <a:bodyPr/>
          <a:lstStyle/>
          <a:p>
            <a:pPr eaLnBrk="1" hangingPunct="1"/>
            <a:r>
              <a:rPr lang="en-US" altLang="en-US">
                <a:solidFill>
                  <a:schemeClr val="hlink"/>
                </a:solidFill>
                <a:latin typeface="Garamond" panose="02020404030301010803" pitchFamily="18" charset="0"/>
              </a:rPr>
              <a:t>我们 需要 同理心 给予 同理心</a:t>
            </a:r>
          </a:p>
          <a:p>
            <a:pPr eaLnBrk="1" hangingPunct="1"/>
            <a:r>
              <a:rPr lang="en-US" altLang="en-US">
                <a:solidFill>
                  <a:schemeClr val="hlink"/>
                </a:solidFill>
                <a:latin typeface="Garamond" panose="02020404030301010803" pitchFamily="18" charset="0"/>
              </a:rPr>
              <a:t>有时我们需要对我们自己和我们自己使用NVC（非暴力沟通）。一个人可以从内心倾听所有负面的声音。  然后用NVC（非暴力沟通）可以揭开自己的感受、需要和欲望。</a:t>
            </a:r>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1045D994-16BA-FB8F-E51C-73E204A33B7C}"/>
              </a:ext>
            </a:extLst>
          </p:cNvPr>
          <p:cNvSpPr>
            <a:spLocks noGrp="1" noChangeArrowheads="1"/>
          </p:cNvSpPr>
          <p:nvPr>
            <p:ph type="title"/>
          </p:nvPr>
        </p:nvSpPr>
        <p:spPr/>
        <p:txBody>
          <a:bodyPr/>
          <a:lstStyle/>
          <a:p>
            <a:pPr algn="ctr" eaLnBrk="1" hangingPunct="1"/>
            <a:r>
              <a:rPr lang="en-US" altLang="en-US" sz="4800">
                <a:latin typeface="Freestyle Script" panose="030804020302050B0404" pitchFamily="66" charset="0"/>
              </a:rPr>
              <a:t>慈悲地与我们自己联系</a:t>
            </a:r>
          </a:p>
        </p:txBody>
      </p:sp>
      <p:sp>
        <p:nvSpPr>
          <p:cNvPr id="153603" name="Rectangle 3">
            <a:extLst>
              <a:ext uri="{FF2B5EF4-FFF2-40B4-BE49-F238E27FC236}">
                <a16:creationId xmlns:a16="http://schemas.microsoft.com/office/drawing/2014/main" id="{BFCC96D5-FA58-144C-2075-947629CB0D88}"/>
              </a:ext>
            </a:extLst>
          </p:cNvPr>
          <p:cNvSpPr>
            <a:spLocks noGrp="1" noChangeArrowheads="1"/>
          </p:cNvSpPr>
          <p:nvPr>
            <p:ph type="body" idx="1"/>
          </p:nvPr>
        </p:nvSpPr>
        <p:spPr/>
        <p:txBody>
          <a:bodyPr/>
          <a:lstStyle/>
          <a:p>
            <a:pPr eaLnBrk="1" hangingPunct="1">
              <a:lnSpc>
                <a:spcPct val="90000"/>
              </a:lnSpc>
            </a:pPr>
            <a:r>
              <a:rPr lang="en-US" altLang="en-US">
                <a:solidFill>
                  <a:schemeClr val="tx2"/>
                </a:solidFill>
              </a:rPr>
              <a:t>NVC（非暴力沟通） 最重要的用途可能是开发 自我慈悲。</a:t>
            </a:r>
          </a:p>
          <a:p>
            <a:pPr lvl="1" eaLnBrk="1" hangingPunct="1">
              <a:lnSpc>
                <a:spcPct val="90000"/>
              </a:lnSpc>
            </a:pPr>
            <a:r>
              <a:rPr lang="en-US" altLang="en-US">
                <a:solidFill>
                  <a:schemeClr val="tx2"/>
                </a:solidFill>
                <a:ea typeface="ＭＳ Ｐゴシック" panose="020B0600070205080204" pitchFamily="34" charset="-128"/>
              </a:rPr>
              <a:t>自我评判，像所有评判一样，是未满足的需要的悲剧性表达。</a:t>
            </a:r>
          </a:p>
          <a:p>
            <a:pPr lvl="1" eaLnBrk="1" hangingPunct="1">
              <a:lnSpc>
                <a:spcPct val="90000"/>
              </a:lnSpc>
            </a:pPr>
            <a:r>
              <a:rPr lang="en-US" altLang="en-US">
                <a:solidFill>
                  <a:schemeClr val="tx2"/>
                </a:solidFill>
                <a:ea typeface="ＭＳ Ｐゴシック" panose="020B0600070205080204" pitchFamily="34" charset="-128"/>
              </a:rPr>
              <a:t>将 self 评判 和内部 要求 翻译为 unmet 需要</a:t>
            </a:r>
          </a:p>
          <a:p>
            <a:pPr lvl="2" eaLnBrk="1" hangingPunct="1">
              <a:lnSpc>
                <a:spcPct val="90000"/>
              </a:lnSpc>
            </a:pPr>
            <a:r>
              <a:rPr lang="en-US" altLang="en-US">
                <a:solidFill>
                  <a:schemeClr val="tx2"/>
                </a:solidFill>
                <a:ea typeface="ＭＳ Ｐゴシック" panose="020B0600070205080204" pitchFamily="34" charset="-128"/>
              </a:rPr>
              <a:t>也许：“我自己的行为与我自己的需要不和谐。”</a:t>
            </a:r>
          </a:p>
          <a:p>
            <a:pPr lvl="2" eaLnBrk="1" hangingPunct="1">
              <a:lnSpc>
                <a:spcPct val="90000"/>
              </a:lnSpc>
            </a:pPr>
            <a:r>
              <a:rPr lang="en-US" altLang="en-US">
                <a:solidFill>
                  <a:schemeClr val="tx2"/>
                </a:solidFill>
                <a:ea typeface="ＭＳ Ｐゴシック" panose="020B0600070205080204" pitchFamily="34" charset="-128"/>
              </a:rPr>
              <a:t>不要用NVC（非暴力沟通）来判断自己，而是用它来发现感受和未满足的需要。</a:t>
            </a:r>
          </a:p>
          <a:p>
            <a:pPr eaLnBrk="1" hangingPunct="1">
              <a:lnSpc>
                <a:spcPct val="90000"/>
              </a:lnSpc>
            </a:pPr>
            <a:endParaRPr lang="en-US" altLang="en-US">
              <a:solidFill>
                <a:schemeClr val="tx2"/>
              </a:solidFill>
            </a:endParaRPr>
          </a:p>
          <a:p>
            <a:pPr eaLnBrk="1" hangingPunct="1">
              <a:lnSpc>
                <a:spcPct val="90000"/>
              </a:lnSpc>
            </a:pPr>
            <a:endParaRPr lang="en-US" altLang="en-US">
              <a:solidFill>
                <a:schemeClr val="tx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2029C281-0327-C677-CA34-6FBB44AF1523}"/>
              </a:ext>
            </a:extLst>
          </p:cNvPr>
          <p:cNvSpPr>
            <a:spLocks noGrp="1" noChangeArrowheads="1"/>
          </p:cNvSpPr>
          <p:nvPr>
            <p:ph type="title"/>
          </p:nvPr>
        </p:nvSpPr>
        <p:spPr/>
        <p:txBody>
          <a:bodyPr/>
          <a:lstStyle/>
          <a:p>
            <a:pPr algn="ctr" eaLnBrk="1" hangingPunct="1"/>
            <a:r>
              <a:rPr lang="en-US" altLang="en-US" sz="4800">
                <a:latin typeface="Freestyle Script" panose="030804020302050B0404" pitchFamily="66" charset="0"/>
              </a:rPr>
              <a:t>慈悲地与我们自己联系</a:t>
            </a:r>
          </a:p>
        </p:txBody>
      </p:sp>
      <p:sp>
        <p:nvSpPr>
          <p:cNvPr id="154627" name="Rectangle 3">
            <a:extLst>
              <a:ext uri="{FF2B5EF4-FFF2-40B4-BE49-F238E27FC236}">
                <a16:creationId xmlns:a16="http://schemas.microsoft.com/office/drawing/2014/main" id="{768B8BCF-AB11-21BA-81AF-1D5EDE810311}"/>
              </a:ext>
            </a:extLst>
          </p:cNvPr>
          <p:cNvSpPr>
            <a:spLocks noGrp="1" noChangeArrowheads="1"/>
          </p:cNvSpPr>
          <p:nvPr>
            <p:ph type="body" idx="1"/>
          </p:nvPr>
        </p:nvSpPr>
        <p:spPr>
          <a:xfrm>
            <a:off x="1295400" y="1905000"/>
            <a:ext cx="7313613" cy="4114800"/>
          </a:xfrm>
        </p:spPr>
        <p:txBody>
          <a:bodyPr/>
          <a:lstStyle/>
          <a:p>
            <a:pPr algn="ctr" eaLnBrk="1" hangingPunct="1">
              <a:lnSpc>
                <a:spcPct val="80000"/>
              </a:lnSpc>
              <a:buFont typeface="Wingdings" panose="05000000000000000000" pitchFamily="2" charset="2"/>
              <a:buNone/>
            </a:pPr>
            <a:r>
              <a:rPr lang="en-US" altLang="en-US" sz="1500">
                <a:solidFill>
                  <a:schemeClr val="tx2"/>
                </a:solidFill>
              </a:rPr>
              <a:t>NVC（非暴力沟通） 自我慈悲 的过程</a:t>
            </a:r>
          </a:p>
          <a:p>
            <a:pPr algn="ctr" eaLnBrk="1" hangingPunct="1">
              <a:lnSpc>
                <a:spcPct val="80000"/>
              </a:lnSpc>
              <a:buFont typeface="Wingdings" panose="05000000000000000000" pitchFamily="2" charset="2"/>
              <a:buNone/>
            </a:pPr>
            <a:r>
              <a:rPr lang="en-US" altLang="en-US" sz="1500">
                <a:solidFill>
                  <a:schemeClr val="tx2"/>
                </a:solidFill>
              </a:rPr>
              <a:t>当后悔过去的行为时</a:t>
            </a:r>
          </a:p>
          <a:p>
            <a:pPr algn="ctr" eaLnBrk="1" hangingPunct="1">
              <a:lnSpc>
                <a:spcPct val="80000"/>
              </a:lnSpc>
              <a:buFont typeface="Wingdings" panose="05000000000000000000" pitchFamily="2" charset="2"/>
              <a:buNone/>
            </a:pPr>
            <a:endParaRPr lang="en-US" altLang="en-US" sz="1500">
              <a:solidFill>
                <a:schemeClr val="tx2"/>
              </a:solidFill>
            </a:endParaRPr>
          </a:p>
          <a:p>
            <a:pPr eaLnBrk="1" hangingPunct="1">
              <a:lnSpc>
                <a:spcPct val="80000"/>
              </a:lnSpc>
              <a:buFont typeface="Wingdings" panose="05000000000000000000" pitchFamily="2" charset="2"/>
              <a:buAutoNum type="arabicPeriod"/>
            </a:pPr>
            <a:r>
              <a:rPr lang="en-US" altLang="en-US" sz="1500" b="1">
                <a:solidFill>
                  <a:schemeClr val="tx2"/>
                </a:solidFill>
              </a:rPr>
              <a:t>NVC（非暴</a:t>
            </a:r>
            <a:r>
              <a:rPr lang="en-US" altLang="en-US" sz="1500">
                <a:solidFill>
                  <a:schemeClr val="tx2"/>
                </a:solidFill>
              </a:rPr>
              <a:t>力沟通）哀悼：与未满足的需要的感受联系起来，这些需要是由你现在后悔的过去行为所刺激的。</a:t>
            </a:r>
          </a:p>
          <a:p>
            <a:pPr eaLnBrk="1" hangingPunct="1">
              <a:lnSpc>
                <a:spcPct val="80000"/>
              </a:lnSpc>
              <a:buFont typeface="Wingdings" panose="05000000000000000000" pitchFamily="2" charset="2"/>
              <a:buAutoNum type="arabicPeriod"/>
            </a:pPr>
            <a:endParaRPr lang="en-US" altLang="en-US" sz="1500">
              <a:solidFill>
                <a:schemeClr val="tx2"/>
              </a:solidFill>
            </a:endParaRPr>
          </a:p>
          <a:p>
            <a:pPr eaLnBrk="1" hangingPunct="1">
              <a:lnSpc>
                <a:spcPct val="80000"/>
              </a:lnSpc>
              <a:buFont typeface="Wingdings" panose="05000000000000000000" pitchFamily="2" charset="2"/>
              <a:buAutoNum type="arabicPeriod"/>
            </a:pPr>
            <a:r>
              <a:rPr lang="en-US" altLang="en-US" sz="1500" b="1">
                <a:solidFill>
                  <a:schemeClr val="tx2"/>
                </a:solidFill>
              </a:rPr>
              <a:t>自我宽恕：</a:t>
            </a:r>
            <a:r>
              <a:rPr lang="en-US" altLang="en-US" sz="1500">
                <a:solidFill>
                  <a:schemeClr val="tx2"/>
                </a:solidFill>
              </a:rPr>
              <a:t>对自己说“当我以现在的方式行事时，我明白了我想要满足的需要”</a:t>
            </a:r>
          </a:p>
          <a:p>
            <a:pPr eaLnBrk="1" hangingPunct="1">
              <a:lnSpc>
                <a:spcPct val="80000"/>
              </a:lnSpc>
              <a:buFont typeface="Wingdings" panose="05000000000000000000" pitchFamily="2" charset="2"/>
              <a:buNone/>
            </a:pPr>
            <a:r>
              <a:rPr lang="en-US" altLang="en-US" sz="1500">
                <a:solidFill>
                  <a:schemeClr val="tx2"/>
                </a:solidFill>
              </a:rPr>
              <a:t> </a:t>
            </a:r>
          </a:p>
          <a:p>
            <a:pPr lvl="1" eaLnBrk="1" hangingPunct="1">
              <a:lnSpc>
                <a:spcPct val="80000"/>
              </a:lnSpc>
            </a:pPr>
            <a:r>
              <a:rPr lang="en-US" altLang="en-US" sz="1300">
                <a:solidFill>
                  <a:schemeClr val="tx2"/>
                </a:solidFill>
                <a:ea typeface="ＭＳ Ｐゴシック" panose="020B0600070205080204" pitchFamily="34" charset="-128"/>
              </a:rPr>
              <a:t>这样做可以看出，他/她所做的任何行为都是一种为生命服务的尝试。</a:t>
            </a:r>
          </a:p>
          <a:p>
            <a:pPr lvl="1" eaLnBrk="1" hangingPunct="1">
              <a:lnSpc>
                <a:spcPct val="80000"/>
              </a:lnSpc>
            </a:pPr>
            <a:endParaRPr lang="en-US" altLang="en-US" sz="1300">
              <a:solidFill>
                <a:schemeClr val="tx2"/>
              </a:solidFill>
              <a:ea typeface="ＭＳ Ｐゴシック" panose="020B0600070205080204" pitchFamily="34" charset="-128"/>
            </a:endParaRPr>
          </a:p>
          <a:p>
            <a:pPr lvl="1" eaLnBrk="1" hangingPunct="1">
              <a:lnSpc>
                <a:spcPct val="80000"/>
              </a:lnSpc>
            </a:pPr>
            <a:r>
              <a:rPr lang="en-US" altLang="en-US" sz="1300">
                <a:solidFill>
                  <a:schemeClr val="tx2"/>
                </a:solidFill>
                <a:ea typeface="ＭＳ Ｐゴシック" panose="020B0600070205080204" pitchFamily="34" charset="-128"/>
              </a:rPr>
              <a:t>哀悼和自我宽恕的过程使我们朝着学习和成长的方向自由。</a:t>
            </a:r>
          </a:p>
          <a:p>
            <a:pPr eaLnBrk="1" hangingPunct="1">
              <a:lnSpc>
                <a:spcPct val="80000"/>
              </a:lnSpc>
              <a:buFont typeface="Wingdings" panose="05000000000000000000" pitchFamily="2" charset="2"/>
              <a:buAutoNum type="arabicPeriod"/>
            </a:pPr>
            <a:endParaRPr lang="en-US" altLang="en-US" sz="1500">
              <a:solidFill>
                <a:schemeClr val="tx2"/>
              </a:solidFill>
            </a:endParaRPr>
          </a:p>
          <a:p>
            <a:pPr algn="ctr" eaLnBrk="1" hangingPunct="1">
              <a:lnSpc>
                <a:spcPct val="80000"/>
              </a:lnSpc>
              <a:buFont typeface="Wingdings" panose="05000000000000000000" pitchFamily="2" charset="2"/>
              <a:buNone/>
            </a:pPr>
            <a:r>
              <a:rPr lang="en-US" altLang="en-US" sz="1500">
                <a:solidFill>
                  <a:schemeClr val="tx2"/>
                </a:solidFill>
              </a:rPr>
              <a:t>当我们对自己充满同情心时，我们就能够拥抱自己的所有部分，并认识到需要和每个部分所表达的价值观。</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CA4985B3-DFDB-A76F-3C17-846EB7C13959}"/>
              </a:ext>
            </a:extLst>
          </p:cNvPr>
          <p:cNvSpPr>
            <a:spLocks noGrp="1" noChangeArrowheads="1"/>
          </p:cNvSpPr>
          <p:nvPr>
            <p:ph type="title"/>
          </p:nvPr>
        </p:nvSpPr>
        <p:spPr/>
        <p:txBody>
          <a:bodyPr/>
          <a:lstStyle/>
          <a:p>
            <a:pPr algn="ctr" eaLnBrk="1" hangingPunct="1"/>
            <a:br>
              <a:rPr lang="en-US" altLang="en-US" sz="2800">
                <a:latin typeface="Freestyle Script" panose="030804020302050B0404" pitchFamily="66" charset="0"/>
              </a:rPr>
            </a:br>
            <a:r>
              <a:rPr lang="en-US" altLang="en-US" sz="4000">
                <a:latin typeface="Freestyle Script" panose="030804020302050B0404" pitchFamily="66" charset="0"/>
              </a:rPr>
              <a:t>富有同情心地与自己联系 将</a:t>
            </a:r>
            <a:r>
              <a:rPr lang="en-US" altLang="en-US" sz="2800">
                <a:latin typeface="Freestyle Script" panose="030804020302050B0404" pitchFamily="66" charset="0"/>
              </a:rPr>
              <a:t/>
            </a:r>
            <a:br>
              <a:rPr lang="en-US" altLang="en-US" sz="2800">
                <a:latin typeface="Freestyle Script" panose="030804020302050B0404" pitchFamily="66" charset="0"/>
              </a:rPr>
            </a:br>
            <a:r>
              <a:rPr lang="en-US" altLang="en-US" sz="2800">
                <a:latin typeface="Garamond" panose="02020404030301010803" pitchFamily="18" charset="0"/>
              </a:rPr>
              <a:t>“必须”翻译为“选择”</a:t>
            </a:r>
          </a:p>
        </p:txBody>
      </p:sp>
      <p:sp>
        <p:nvSpPr>
          <p:cNvPr id="155651" name="Rectangle 3">
            <a:extLst>
              <a:ext uri="{FF2B5EF4-FFF2-40B4-BE49-F238E27FC236}">
                <a16:creationId xmlns:a16="http://schemas.microsoft.com/office/drawing/2014/main" id="{E5BF70F6-6FC3-B06F-6537-E01675610EC5}"/>
              </a:ext>
            </a:extLst>
          </p:cNvPr>
          <p:cNvSpPr>
            <a:spLocks noGrp="1" noChangeArrowheads="1"/>
          </p:cNvSpPr>
          <p:nvPr>
            <p:ph type="body" idx="1"/>
          </p:nvPr>
        </p:nvSpPr>
        <p:spPr/>
        <p:txBody>
          <a:bodyPr/>
          <a:lstStyle/>
          <a:p>
            <a:pPr eaLnBrk="1" hangingPunct="1"/>
            <a:r>
              <a:rPr lang="en-US" altLang="en-US">
                <a:solidFill>
                  <a:schemeClr val="tx2"/>
                </a:solidFill>
              </a:rPr>
              <a:t>我们采取的每一个行动我们选择这样做是因为它符合需要。</a:t>
            </a:r>
          </a:p>
          <a:p>
            <a:pPr lvl="1" eaLnBrk="1" hangingPunct="1"/>
            <a:r>
              <a:rPr lang="en-US" altLang="en-US">
                <a:solidFill>
                  <a:schemeClr val="tx2"/>
                </a:solidFill>
                <a:ea typeface="ＭＳ Ｐゴシック" panose="020B0600070205080204" pitchFamily="34" charset="-128"/>
              </a:rPr>
              <a:t>你做出的每一个选择，都要意识到它的用途 需要。</a:t>
            </a:r>
          </a:p>
          <a:p>
            <a:pPr eaLnBrk="1" hangingPunct="1">
              <a:buFont typeface="Wingdings" panose="05000000000000000000" pitchFamily="2" charset="2"/>
              <a:buNone/>
            </a:pPr>
            <a:endParaRPr lang="en-US" altLang="en-US">
              <a:solidFill>
                <a:schemeClr val="tx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097D028-D908-8994-8B0F-6A6A08039DDA}"/>
              </a:ext>
            </a:extLst>
          </p:cNvPr>
          <p:cNvSpPr>
            <a:spLocks noGrp="1" noChangeArrowheads="1"/>
          </p:cNvSpPr>
          <p:nvPr>
            <p:ph type="title"/>
          </p:nvPr>
        </p:nvSpPr>
        <p:spPr/>
        <p:txBody>
          <a:bodyPr/>
          <a:lstStyle/>
          <a:p>
            <a:pPr algn="ctr" eaLnBrk="1" hangingPunct="1"/>
            <a:br>
              <a:rPr lang="en-US" altLang="en-US" sz="3200">
                <a:latin typeface="Freestyle Script" panose="030804020302050B0404" pitchFamily="66" charset="0"/>
              </a:rPr>
            </a:br>
            <a:r>
              <a:rPr lang="en-US" altLang="en-US" sz="3200">
                <a:latin typeface="Freestyle Script" panose="030804020302050B0404" pitchFamily="66" charset="0"/>
              </a:rPr>
              <a:t/>
            </a:r>
            <a:r>
              <a:rPr lang="en-US" altLang="en-US" sz="4000">
                <a:latin typeface="Freestyle Script" panose="030804020302050B0404" pitchFamily="66" charset="0"/>
              </a:rPr>
              <a:t>富有同情心地与自己联系</a:t>
            </a:r>
            <a:r>
              <a:rPr lang="en-US" altLang="en-US" sz="2800">
                <a:latin typeface="Freestyle Script" panose="030804020302050B0404" pitchFamily="66" charset="0"/>
              </a:rPr>
              <a:t/>
            </a:r>
            <a:br>
              <a:rPr lang="en-US" altLang="en-US" sz="2800">
                <a:latin typeface="Freestyle Script" panose="030804020302050B0404" pitchFamily="66" charset="0"/>
              </a:rPr>
            </a:br>
            <a:r>
              <a:rPr lang="en-US" altLang="en-US" sz="2000">
                <a:latin typeface="Garamond" panose="02020404030301010803" pitchFamily="18" charset="0"/>
              </a:rPr>
              <a:t>，培养对我们行动背后能量的认识</a:t>
            </a:r>
            <a:r>
              <a:rPr lang="en-US" altLang="en-US" sz="3200">
                <a:latin typeface="Freestyle Script" panose="030804020302050B0404" pitchFamily="66" charset="0"/>
              </a:rPr>
              <a:t/>
            </a:r>
          </a:p>
        </p:txBody>
      </p:sp>
      <p:sp>
        <p:nvSpPr>
          <p:cNvPr id="156675" name="Rectangle 3">
            <a:extLst>
              <a:ext uri="{FF2B5EF4-FFF2-40B4-BE49-F238E27FC236}">
                <a16:creationId xmlns:a16="http://schemas.microsoft.com/office/drawing/2014/main" id="{70B078F0-9C5E-DF18-3BD2-3BDE89FD5A96}"/>
              </a:ext>
            </a:extLst>
          </p:cNvPr>
          <p:cNvSpPr>
            <a:spLocks noGrp="1" noChangeArrowheads="1"/>
          </p:cNvSpPr>
          <p:nvPr>
            <p:ph type="body" idx="1"/>
          </p:nvPr>
        </p:nvSpPr>
        <p:spPr/>
        <p:txBody>
          <a:bodyPr/>
          <a:lstStyle/>
          <a:p>
            <a:pPr eaLnBrk="1" hangingPunct="1">
              <a:lnSpc>
                <a:spcPct val="80000"/>
              </a:lnSpc>
            </a:pPr>
            <a:r>
              <a:rPr lang="en-US" altLang="en-US" sz="1500">
                <a:solidFill>
                  <a:schemeClr val="tx2"/>
                </a:solidFill>
              </a:rPr>
              <a:t>“我选择……因为我想要……</a:t>
            </a:r>
          </a:p>
          <a:p>
            <a:pPr lvl="1" eaLnBrk="1" hangingPunct="1">
              <a:lnSpc>
                <a:spcPct val="80000"/>
              </a:lnSpc>
            </a:pPr>
            <a:r>
              <a:rPr lang="en-US" altLang="en-US" sz="1300">
                <a:solidFill>
                  <a:schemeClr val="tx2"/>
                </a:solidFill>
                <a:ea typeface="ＭＳ Ｐゴシック" panose="020B0600070205080204" pitchFamily="34" charset="-128"/>
              </a:rPr>
              <a:t>我选择去工作是因为我想要得到报酬。</a:t>
            </a:r>
          </a:p>
          <a:p>
            <a:pPr lvl="1" eaLnBrk="1" hangingPunct="1">
              <a:lnSpc>
                <a:spcPct val="80000"/>
              </a:lnSpc>
            </a:pPr>
            <a:endParaRPr lang="en-US" altLang="en-US" sz="1300">
              <a:solidFill>
                <a:schemeClr val="tx2"/>
              </a:solidFill>
              <a:ea typeface="ＭＳ Ｐゴシック" panose="020B0600070205080204" pitchFamily="34" charset="-128"/>
            </a:endParaRPr>
          </a:p>
          <a:p>
            <a:pPr eaLnBrk="1" hangingPunct="1">
              <a:lnSpc>
                <a:spcPct val="80000"/>
              </a:lnSpc>
              <a:buFont typeface="Wingdings" panose="05000000000000000000" pitchFamily="2" charset="2"/>
              <a:buNone/>
            </a:pPr>
            <a:r>
              <a:rPr lang="en-US" altLang="en-US" sz="1500">
                <a:solidFill>
                  <a:schemeClr val="tx2"/>
                </a:solidFill>
              </a:rPr>
              <a:t>选择做我们不喜欢的事情的可能动机：或感觉我们别无选择……</a:t>
            </a:r>
          </a:p>
          <a:p>
            <a:pPr eaLnBrk="1" hangingPunct="1">
              <a:lnSpc>
                <a:spcPct val="80000"/>
              </a:lnSpc>
              <a:buFont typeface="Wingdings" panose="05000000000000000000" pitchFamily="2" charset="2"/>
              <a:buNone/>
            </a:pPr>
            <a:r>
              <a:rPr lang="en-US" altLang="en-US" sz="1500">
                <a:solidFill>
                  <a:schemeClr val="tx2"/>
                </a:solidFill>
              </a:rPr>
              <a:t> </a:t>
            </a:r>
          </a:p>
          <a:p>
            <a:pPr lvl="1" eaLnBrk="1" hangingPunct="1">
              <a:lnSpc>
                <a:spcPct val="80000"/>
              </a:lnSpc>
            </a:pPr>
            <a:r>
              <a:rPr lang="en-US" altLang="en-US" sz="1200">
                <a:solidFill>
                  <a:schemeClr val="tx2"/>
                </a:solidFill>
                <a:ea typeface="ＭＳ Ｐゴシック" panose="020B0600070205080204" pitchFamily="34" charset="-128"/>
              </a:rPr>
              <a:t>金钱-金钱本身并不是需要，而是满足需要的策略。</a:t>
            </a:r>
          </a:p>
          <a:p>
            <a:pPr lvl="1" eaLnBrk="1" hangingPunct="1">
              <a:lnSpc>
                <a:spcPct val="80000"/>
              </a:lnSpc>
            </a:pPr>
            <a:endParaRPr lang="en-US" altLang="en-US" sz="1200">
              <a:solidFill>
                <a:schemeClr val="tx2"/>
              </a:solidFill>
              <a:ea typeface="ＭＳ Ｐゴシック" panose="020B0600070205080204" pitchFamily="34" charset="-128"/>
            </a:endParaRPr>
          </a:p>
          <a:p>
            <a:pPr lvl="1" eaLnBrk="1" hangingPunct="1">
              <a:lnSpc>
                <a:spcPct val="80000"/>
              </a:lnSpc>
            </a:pPr>
            <a:r>
              <a:rPr lang="en-US" altLang="en-US" sz="1200">
                <a:solidFill>
                  <a:schemeClr val="tx2"/>
                </a:solidFill>
                <a:ea typeface="ＭＳ Ｐゴシック" panose="020B0600070205080204" pitchFamily="34" charset="-128"/>
              </a:rPr>
              <a:t>认可——尽一切努力让人们“喜欢”我们。</a:t>
            </a:r>
          </a:p>
          <a:p>
            <a:pPr lvl="1" eaLnBrk="1" hangingPunct="1">
              <a:lnSpc>
                <a:spcPct val="80000"/>
              </a:lnSpc>
              <a:buFont typeface="Wingdings" panose="05000000000000000000" pitchFamily="2" charset="2"/>
              <a:buNone/>
            </a:pPr>
            <a:r>
              <a:rPr lang="en-US" altLang="en-US" sz="1200">
                <a:solidFill>
                  <a:schemeClr val="tx2"/>
                </a:solidFill>
                <a:ea typeface="ＭＳ Ｐゴシック" panose="020B0600070205080204" pitchFamily="34" charset="-128"/>
              </a:rPr>
              <a:t> </a:t>
            </a:r>
          </a:p>
          <a:p>
            <a:pPr lvl="1" eaLnBrk="1" hangingPunct="1">
              <a:lnSpc>
                <a:spcPct val="80000"/>
              </a:lnSpc>
            </a:pPr>
            <a:r>
              <a:rPr lang="en-US" altLang="en-US" sz="1200">
                <a:solidFill>
                  <a:schemeClr val="tx2"/>
                </a:solidFill>
                <a:ea typeface="ＭＳ Ｐゴシック" panose="020B0600070205080204" pitchFamily="34" charset="-128"/>
              </a:rPr>
              <a:t>逃避惩罚——超速驾驶</a:t>
            </a:r>
            <a:endParaRPr lang="en-US" altLang="en-US" sz="1200">
              <a:solidFill>
                <a:schemeClr val="tx2"/>
              </a:solidFill>
              <a:ea typeface="ＭＳ Ｐゴシック" panose="020B0600070205080204" pitchFamily="34" charset="-128"/>
              <a:sym typeface="Wingdings" panose="05000000000000000000" pitchFamily="2" charset="2"/>
            </a:endParaRPr>
          </a:p>
          <a:p>
            <a:pPr lvl="1" eaLnBrk="1" hangingPunct="1">
              <a:lnSpc>
                <a:spcPct val="80000"/>
              </a:lnSpc>
            </a:pPr>
            <a:endParaRPr lang="en-US" altLang="en-US" sz="1200">
              <a:solidFill>
                <a:schemeClr val="tx2"/>
              </a:solidFill>
              <a:ea typeface="ＭＳ Ｐゴシック" panose="020B0600070205080204" pitchFamily="34" charset="-128"/>
            </a:endParaRPr>
          </a:p>
          <a:p>
            <a:pPr lvl="1" eaLnBrk="1" hangingPunct="1">
              <a:lnSpc>
                <a:spcPct val="80000"/>
              </a:lnSpc>
            </a:pPr>
            <a:r>
              <a:rPr lang="en-US" altLang="en-US" sz="1200">
                <a:solidFill>
                  <a:schemeClr val="tx2"/>
                </a:solidFill>
                <a:ea typeface="ＭＳ Ｐゴシック" panose="020B0600070205080204" pitchFamily="34" charset="-128"/>
              </a:rPr>
              <a:t>避免羞耻感-我们做事是为了不让自己失望。</a:t>
            </a:r>
          </a:p>
          <a:p>
            <a:pPr lvl="1" eaLnBrk="1" hangingPunct="1">
              <a:lnSpc>
                <a:spcPct val="80000"/>
              </a:lnSpc>
              <a:buFont typeface="Wingdings" panose="05000000000000000000" pitchFamily="2" charset="2"/>
              <a:buNone/>
            </a:pPr>
            <a:r>
              <a:rPr lang="en-US" altLang="en-US" sz="1200">
                <a:solidFill>
                  <a:schemeClr val="tx2"/>
                </a:solidFill>
                <a:ea typeface="ＭＳ Ｐゴシック" panose="020B0600070205080204" pitchFamily="34" charset="-128"/>
              </a:rPr>
              <a:t> </a:t>
            </a:r>
          </a:p>
          <a:p>
            <a:pPr lvl="1" eaLnBrk="1" hangingPunct="1">
              <a:lnSpc>
                <a:spcPct val="80000"/>
              </a:lnSpc>
            </a:pPr>
            <a:r>
              <a:rPr lang="en-US" altLang="en-US" sz="1200">
                <a:solidFill>
                  <a:schemeClr val="tx2"/>
                </a:solidFill>
                <a:ea typeface="ＭＳ Ｐゴシック" panose="020B0600070205080204" pitchFamily="34" charset="-128"/>
              </a:rPr>
              <a:t>避免内疚-我们做事不让别人失望。</a:t>
            </a:r>
          </a:p>
          <a:p>
            <a:pPr lvl="1" eaLnBrk="1" hangingPunct="1">
              <a:lnSpc>
                <a:spcPct val="80000"/>
              </a:lnSpc>
            </a:pPr>
            <a:endParaRPr lang="en-US" altLang="en-US" sz="1200">
              <a:solidFill>
                <a:schemeClr val="tx2"/>
              </a:solidFill>
              <a:ea typeface="ＭＳ Ｐゴシック" panose="020B0600070205080204" pitchFamily="34" charset="-128"/>
            </a:endParaRPr>
          </a:p>
          <a:p>
            <a:pPr lvl="1" eaLnBrk="1" hangingPunct="1">
              <a:lnSpc>
                <a:spcPct val="80000"/>
              </a:lnSpc>
            </a:pPr>
            <a:r>
              <a:rPr lang="en-US" altLang="en-US" sz="1200">
                <a:solidFill>
                  <a:schemeClr val="tx2"/>
                </a:solidFill>
                <a:ea typeface="ＭＳ Ｐゴシック" panose="020B0600070205080204" pitchFamily="34" charset="-128"/>
              </a:rPr>
              <a:t>满足责任感——我们做事是出于一种模煳的内疚、责任或义务感</a:t>
            </a:r>
            <a:r>
              <a:rPr lang="en-US" altLang="en-US" sz="1200">
                <a:ea typeface="ＭＳ Ｐゴシック" panose="020B0600070205080204" pitchFamily="34" charset="-128"/>
              </a:rPr>
              <a:t>。</a:t>
            </a:r>
          </a:p>
          <a:p>
            <a:pPr eaLnBrk="1" hangingPunct="1">
              <a:lnSpc>
                <a:spcPct val="80000"/>
              </a:lnSpc>
              <a:buFont typeface="Wingdings" panose="05000000000000000000" pitchFamily="2" charset="2"/>
              <a:buNone/>
            </a:pPr>
            <a:endParaRPr lang="en-US" altLang="en-US" sz="12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39566E47-8BE3-753F-DB0A-DD0638B4BA8B}"/>
              </a:ext>
            </a:extLst>
          </p:cNvPr>
          <p:cNvSpPr>
            <a:spLocks noGrp="1" noChangeArrowheads="1"/>
          </p:cNvSpPr>
          <p:nvPr>
            <p:ph type="title"/>
          </p:nvPr>
        </p:nvSpPr>
        <p:spPr/>
        <p:txBody>
          <a:bodyPr/>
          <a:lstStyle/>
          <a:p>
            <a:pPr algn="ctr" eaLnBrk="1" hangingPunct="1"/>
            <a:r>
              <a:rPr lang="en-US" altLang="en-US" sz="5400">
                <a:latin typeface="Freestyle Script" panose="030804020302050B0404" pitchFamily="66" charset="0"/>
              </a:rPr>
              <a:t>罗森伯格的建议</a:t>
            </a:r>
            <a:r>
              <a:rPr lang="en-US" altLang="en-US">
                <a:latin typeface="Freestyle Script" panose="030804020302050B0404" pitchFamily="66" charset="0"/>
              </a:rPr>
              <a:t/>
            </a:r>
          </a:p>
        </p:txBody>
      </p:sp>
      <p:sp>
        <p:nvSpPr>
          <p:cNvPr id="157699" name="Rectangle 3">
            <a:extLst>
              <a:ext uri="{FF2B5EF4-FFF2-40B4-BE49-F238E27FC236}">
                <a16:creationId xmlns:a16="http://schemas.microsoft.com/office/drawing/2014/main" id="{62A98CAB-A467-050D-091D-29185FF49B95}"/>
              </a:ext>
            </a:extLst>
          </p:cNvPr>
          <p:cNvSpPr>
            <a:spLocks noGrp="1" noChangeArrowheads="1"/>
          </p:cNvSpPr>
          <p:nvPr>
            <p:ph type="body" idx="1"/>
          </p:nvPr>
        </p:nvSpPr>
        <p:spPr/>
        <p:txBody>
          <a:bodyPr/>
          <a:lstStyle/>
          <a:p>
            <a:pPr eaLnBrk="1" hangingPunct="1">
              <a:lnSpc>
                <a:spcPct val="80000"/>
              </a:lnSpc>
            </a:pPr>
            <a:r>
              <a:rPr lang="en-US" altLang="en-US" sz="1500">
                <a:solidFill>
                  <a:schemeClr val="tx2"/>
                </a:solidFill>
              </a:rPr>
              <a:t>不玩的事情就别做！</a:t>
            </a:r>
          </a:p>
          <a:p>
            <a:pPr eaLnBrk="1" hangingPunct="1">
              <a:lnSpc>
                <a:spcPct val="80000"/>
              </a:lnSpc>
            </a:pPr>
            <a:endParaRPr lang="en-US" altLang="en-US" sz="1500">
              <a:solidFill>
                <a:schemeClr val="tx2"/>
              </a:solidFill>
            </a:endParaRPr>
          </a:p>
          <a:p>
            <a:pPr eaLnBrk="1" hangingPunct="1">
              <a:lnSpc>
                <a:spcPct val="80000"/>
              </a:lnSpc>
            </a:pPr>
            <a:r>
              <a:rPr lang="en-US" altLang="en-US" sz="1500">
                <a:solidFill>
                  <a:schemeClr val="tx2"/>
                </a:solidFill>
              </a:rPr>
              <a:t>“我真诚地相信，自我慈悲 的一种重要形式是纯粹出于对生活做出贡献的愿望而做出选择，而不是出于恐惧、内疚、羞耻感、责任或义务。”</a:t>
            </a:r>
          </a:p>
          <a:p>
            <a:pPr eaLnBrk="1" hangingPunct="1">
              <a:lnSpc>
                <a:spcPct val="80000"/>
              </a:lnSpc>
              <a:buFont typeface="Wingdings" panose="05000000000000000000" pitchFamily="2" charset="2"/>
              <a:buNone/>
            </a:pPr>
            <a:r>
              <a:rPr lang="en-US" altLang="en-US" sz="1500">
                <a:solidFill>
                  <a:schemeClr val="tx2"/>
                </a:solidFill>
              </a:rPr>
              <a:t> </a:t>
            </a:r>
          </a:p>
          <a:p>
            <a:pPr eaLnBrk="1" hangingPunct="1">
              <a:lnSpc>
                <a:spcPct val="80000"/>
              </a:lnSpc>
            </a:pPr>
            <a:r>
              <a:rPr lang="en-US" altLang="en-US" sz="1500">
                <a:solidFill>
                  <a:schemeClr val="tx2"/>
                </a:solidFill>
              </a:rPr>
              <a:t>“当我们意识到我们所采取的行动背后有丰富生活的目的时，当激励我们的唯一能量只是让他人和我们自己的生活变得美好时，即使努力工作也有玩乐的成分。”</a:t>
            </a:r>
          </a:p>
          <a:p>
            <a:pPr eaLnBrk="1" hangingPunct="1">
              <a:lnSpc>
                <a:spcPct val="80000"/>
              </a:lnSpc>
            </a:pPr>
            <a:endParaRPr lang="en-US" altLang="en-US" sz="1500">
              <a:solidFill>
                <a:schemeClr val="tx2"/>
              </a:solidFill>
            </a:endParaRPr>
          </a:p>
          <a:p>
            <a:pPr eaLnBrk="1" hangingPunct="1">
              <a:lnSpc>
                <a:spcPct val="80000"/>
              </a:lnSpc>
            </a:pPr>
            <a:r>
              <a:rPr lang="en-US" altLang="en-US" sz="1500">
                <a:solidFill>
                  <a:schemeClr val="tx2"/>
                </a:solidFill>
              </a:rPr>
              <a:t>相反，即使是出于义务、责任、恐惧、内疚 或 羞耻感 而进行的有趣的活动也会失去乐趣并产生阻力。</a:t>
            </a:r>
          </a:p>
          <a:p>
            <a:pPr eaLnBrk="1" hangingPunct="1">
              <a:lnSpc>
                <a:spcPct val="80000"/>
              </a:lnSpc>
            </a:pPr>
            <a:endParaRPr lang="en-US" altLang="en-US" sz="1500">
              <a:solidFill>
                <a:schemeClr val="tx2"/>
              </a:solidFill>
            </a:endParaRPr>
          </a:p>
          <a:p>
            <a:pPr algn="ctr" eaLnBrk="1" hangingPunct="1">
              <a:lnSpc>
                <a:spcPct val="80000"/>
              </a:lnSpc>
              <a:buFont typeface="Wingdings" panose="05000000000000000000" pitchFamily="2" charset="2"/>
              <a:buNone/>
            </a:pPr>
            <a:r>
              <a:rPr lang="en-US" altLang="en-US" sz="2800">
                <a:solidFill>
                  <a:schemeClr val="tx2"/>
                </a:solidFill>
                <a:latin typeface="Freestyle Script" panose="030804020302050B0404" pitchFamily="66" charset="0"/>
              </a:rPr>
              <a:t>从“必须”到“选择”的转变</a:t>
            </a:r>
          </a:p>
          <a:p>
            <a:pPr algn="ctr" eaLnBrk="1" hangingPunct="1">
              <a:lnSpc>
                <a:spcPct val="80000"/>
              </a:lnSpc>
              <a:buFont typeface="Wingdings" panose="05000000000000000000" pitchFamily="2" charset="2"/>
              <a:buNone/>
            </a:pPr>
            <a:r>
              <a:rPr lang="en-US" altLang="en-US" sz="2800">
                <a:solidFill>
                  <a:schemeClr val="tx2"/>
                </a:solidFill>
                <a:latin typeface="Freestyle Script" panose="030804020302050B0404" pitchFamily="66" charset="0"/>
              </a:rPr>
              <a:t>可以给您的生活带来欢乐和玩耍！</a:t>
            </a:r>
            <a:r>
              <a:rPr lang="en-US" altLang="en-US" sz="2000">
                <a:solidFill>
                  <a:schemeClr val="tx2"/>
                </a:solidFill>
                <a:latin typeface="Freestyle Script" panose="030804020302050B0404" pitchFamily="66" charset="0"/>
              </a:rPr>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769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769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769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769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769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7AB85C0-F62F-1777-E729-30CBA866B918}"/>
              </a:ext>
            </a:extLst>
          </p:cNvPr>
          <p:cNvSpPr>
            <a:spLocks noGrp="1" noChangeArrowheads="1"/>
          </p:cNvSpPr>
          <p:nvPr>
            <p:ph type="title"/>
          </p:nvPr>
        </p:nvSpPr>
        <p:spPr/>
        <p:txBody>
          <a:bodyPr/>
          <a:lstStyle/>
          <a:p>
            <a:pPr algn="ctr" eaLnBrk="1" hangingPunct="1"/>
            <a:r>
              <a:rPr lang="en-US" altLang="en-US">
                <a:latin typeface="Freestyle Script" panose="030804020302050B0404" pitchFamily="66" charset="0"/>
              </a:rPr>
              <a:t>慈悲地与我们自己联系</a:t>
            </a:r>
          </a:p>
        </p:txBody>
      </p:sp>
      <p:sp>
        <p:nvSpPr>
          <p:cNvPr id="77827" name="Rectangle 3">
            <a:extLst>
              <a:ext uri="{FF2B5EF4-FFF2-40B4-BE49-F238E27FC236}">
                <a16:creationId xmlns:a16="http://schemas.microsoft.com/office/drawing/2014/main" id="{677C6EBC-0C3F-B004-E335-4B0961AC7F04}"/>
              </a:ext>
            </a:extLst>
          </p:cNvPr>
          <p:cNvSpPr>
            <a:spLocks noGrp="1" noChangeArrowheads="1"/>
          </p:cNvSpPr>
          <p:nvPr>
            <p:ph type="body" idx="1"/>
          </p:nvPr>
        </p:nvSpPr>
        <p:spPr/>
        <p:txBody>
          <a:bodyPr/>
          <a:lstStyle/>
          <a:p>
            <a:pPr eaLnBrk="1" hangingPunct="1"/>
            <a:r>
              <a:rPr lang="en-US" altLang="en-US" sz="2500">
                <a:solidFill>
                  <a:schemeClr val="hlink"/>
                </a:solidFill>
                <a:latin typeface="Garamond" panose="02020404030301010803" pitchFamily="18" charset="0"/>
              </a:rPr>
              <a:t>NVC（非暴力沟通） 可以帮助发展 自我慈悲</a:t>
            </a:r>
          </a:p>
          <a:p>
            <a:pPr eaLnBrk="1" hangingPunct="1"/>
            <a:endParaRPr lang="en-US" altLang="en-US" sz="2500">
              <a:solidFill>
                <a:schemeClr val="hlink"/>
              </a:solidFill>
              <a:latin typeface="Garamond" panose="02020404030301010803" pitchFamily="18" charset="0"/>
            </a:endParaRPr>
          </a:p>
          <a:p>
            <a:pPr eaLnBrk="1" hangingPunct="1"/>
            <a:r>
              <a:rPr lang="en-US" altLang="en-US" sz="2500">
                <a:solidFill>
                  <a:schemeClr val="hlink"/>
                </a:solidFill>
                <a:latin typeface="Garamond" panose="02020404030301010803" pitchFamily="18" charset="0"/>
              </a:rPr>
              <a:t>使用 NVC（非暴力沟通） 来成长，而不是使用可能导致自我仇恨的是非语言</a:t>
            </a:r>
          </a:p>
          <a:p>
            <a:pPr eaLnBrk="1" hangingPunct="1"/>
            <a:endParaRPr lang="en-US" altLang="en-US" sz="2500">
              <a:solidFill>
                <a:schemeClr val="hlink"/>
              </a:solidFill>
              <a:latin typeface="Garamond" panose="02020404030301010803" pitchFamily="18" charset="0"/>
            </a:endParaRPr>
          </a:p>
          <a:p>
            <a:pPr eaLnBrk="1" hangingPunct="1">
              <a:buFont typeface="Wingdings" panose="05000000000000000000" pitchFamily="2" charset="2"/>
              <a:buNone/>
            </a:pPr>
            <a:r>
              <a:rPr lang="en-US" altLang="en-US" sz="1900" b="1">
                <a:solidFill>
                  <a:schemeClr val="hlink"/>
                </a:solidFill>
                <a:latin typeface="Garamond" panose="02020404030301010803" pitchFamily="18" charset="0"/>
              </a:rPr>
              <a:t>“当我们陷入批评、责备或愤怒的想法中时，很难为自己建立一个健康的内部环境。NVC（非暴力沟通）鼓励我们专注于我们真正想要的东西，而不是别人或我们自己的问题，帮助我们创造更平静的心态。”</a:t>
            </a:r>
          </a:p>
          <a:p>
            <a:pPr eaLnBrk="1" hangingPunct="1"/>
            <a:endParaRPr lang="en-US" altLang="en-US" sz="2500" b="1">
              <a:solidFill>
                <a:schemeClr val="hlink"/>
              </a:solidFill>
              <a:latin typeface="Garamond" panose="02020404030301010803" pitchFamily="18" charset="0"/>
            </a:endParaRPr>
          </a:p>
          <a:p>
            <a:pPr eaLnBrk="1" hangingPunct="1">
              <a:buFont typeface="Wingdings" panose="05000000000000000000" pitchFamily="2" charset="2"/>
              <a:buNone/>
            </a:pPr>
            <a:endParaRPr lang="en-US" altLang="en-US" sz="2500">
              <a:solidFill>
                <a:schemeClr val="hlink"/>
              </a:solidFill>
              <a:latin typeface="Garamond" panose="02020404030301010803"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F07A5FFB-A32B-97E9-12BA-BA7DF0B7A4CD}"/>
              </a:ext>
            </a:extLst>
          </p:cNvPr>
          <p:cNvSpPr>
            <a:spLocks noGrp="1" noChangeArrowheads="1"/>
          </p:cNvSpPr>
          <p:nvPr>
            <p:ph type="title"/>
          </p:nvPr>
        </p:nvSpPr>
        <p:spPr/>
        <p:txBody>
          <a:bodyPr/>
          <a:lstStyle/>
          <a:p>
            <a:pPr algn="ctr" eaLnBrk="1" hangingPunct="1"/>
            <a:r>
              <a:rPr lang="en-US" altLang="en-US" sz="5400">
                <a:latin typeface="Freestyle Script" panose="030804020302050B0404" pitchFamily="66" charset="0"/>
              </a:rPr>
              <a:t>宁静祈祷</a:t>
            </a:r>
          </a:p>
        </p:txBody>
      </p:sp>
      <p:sp>
        <p:nvSpPr>
          <p:cNvPr id="158723" name="Rectangle 3">
            <a:extLst>
              <a:ext uri="{FF2B5EF4-FFF2-40B4-BE49-F238E27FC236}">
                <a16:creationId xmlns:a16="http://schemas.microsoft.com/office/drawing/2014/main" id="{DD2EF972-F90C-3456-607F-F00834B5B096}"/>
              </a:ext>
            </a:extLst>
          </p:cNvPr>
          <p:cNvSpPr>
            <a:spLocks noGrp="1" noChangeArrowheads="1"/>
          </p:cNvSpPr>
          <p:nvPr>
            <p:ph type="body" idx="1"/>
          </p:nvPr>
        </p:nvSpPr>
        <p:spPr/>
        <p:txBody>
          <a:bodyPr/>
          <a:lstStyle/>
          <a:p>
            <a:pPr algn="ctr" eaLnBrk="1" hangingPunct="1">
              <a:lnSpc>
                <a:spcPct val="90000"/>
              </a:lnSpc>
              <a:buFont typeface="Wingdings" panose="05000000000000000000" pitchFamily="2" charset="2"/>
              <a:buNone/>
            </a:pPr>
            <a:r>
              <a:rPr lang="en-US" altLang="en-US" sz="3600">
                <a:solidFill>
                  <a:schemeClr val="tx2"/>
                </a:solidFill>
                <a:latin typeface="Freestyle Script" panose="030804020302050B0404" pitchFamily="66" charset="0"/>
              </a:rPr>
              <a:t>愿上帝赐予我平静，去</a:t>
            </a:r>
            <a:br>
              <a:rPr lang="en-US" altLang="en-US" sz="3600">
                <a:solidFill>
                  <a:schemeClr val="tx2"/>
                </a:solidFill>
                <a:latin typeface="Freestyle Script" panose="030804020302050B0404" pitchFamily="66" charset="0"/>
              </a:rPr>
            </a:br>
            <a:r>
              <a:rPr lang="en-US" altLang="en-US" sz="3600">
                <a:solidFill>
                  <a:schemeClr val="tx2"/>
                </a:solidFill>
                <a:latin typeface="Freestyle Script" panose="030804020302050B0404" pitchFamily="66" charset="0"/>
              </a:rPr>
              <a:t>接受那些我无法改变的事情；勇</a:t>
            </a:r>
            <a:br>
              <a:rPr lang="en-US" altLang="en-US" sz="3600">
                <a:solidFill>
                  <a:schemeClr val="tx2"/>
                </a:solidFill>
                <a:latin typeface="Freestyle Script" panose="030804020302050B0404" pitchFamily="66" charset="0"/>
              </a:rPr>
            </a:br>
            <a:r>
              <a:rPr lang="en-US" altLang="en-US" sz="3600">
                <a:solidFill>
                  <a:schemeClr val="tx2"/>
                </a:solidFill>
                <a:latin typeface="Freestyle Script" panose="030804020302050B0404" pitchFamily="66" charset="0"/>
              </a:rPr>
              <a:t>气去改变我能改变的事情；智</a:t>
            </a:r>
            <a:br>
              <a:rPr lang="en-US" altLang="en-US" sz="3600">
                <a:solidFill>
                  <a:schemeClr val="tx2"/>
                </a:solidFill>
                <a:latin typeface="Freestyle Script" panose="030804020302050B0404" pitchFamily="66" charset="0"/>
              </a:rPr>
            </a:br>
            <a:r>
              <a:rPr lang="en-US" altLang="en-US" sz="3600">
                <a:solidFill>
                  <a:schemeClr val="tx2"/>
                </a:solidFill>
                <a:latin typeface="Freestyle Script" panose="030804020302050B0404" pitchFamily="66" charset="0"/>
              </a:rPr>
              <a:t>慧去分辨两者之间的区别。</a:t>
            </a:r>
            <a:r>
              <a:rPr lang="en-US" altLang="en-US">
                <a:solidFill>
                  <a:schemeClr val="tx2"/>
                </a:solidFill>
              </a:rPr>
              <a:t/>
            </a:r>
          </a:p>
          <a:p>
            <a:pPr algn="ctr" eaLnBrk="1" hangingPunct="1">
              <a:lnSpc>
                <a:spcPct val="90000"/>
              </a:lnSpc>
              <a:buFont typeface="Wingdings" panose="05000000000000000000" pitchFamily="2" charset="2"/>
              <a:buNone/>
            </a:pPr>
            <a:endParaRPr lang="en-US" altLang="en-US">
              <a:solidFill>
                <a:schemeClr val="tx2"/>
              </a:solidFill>
            </a:endParaRPr>
          </a:p>
          <a:p>
            <a:pPr eaLnBrk="1" hangingPunct="1">
              <a:lnSpc>
                <a:spcPct val="90000"/>
              </a:lnSpc>
              <a:buFont typeface="Wingdings" panose="05000000000000000000" pitchFamily="2" charset="2"/>
              <a:buNone/>
            </a:pPr>
            <a:r>
              <a:rPr lang="en-US" altLang="en-US">
                <a:solidFill>
                  <a:schemeClr val="tx2"/>
                </a:solidFill>
              </a:rPr>
              <a:t>*NVC（非暴力沟通）有可能是通过宁静祈祷的镜头进行交流的一种方式吗？</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900" name="Rectangle 4">
            <a:extLst>
              <a:ext uri="{FF2B5EF4-FFF2-40B4-BE49-F238E27FC236}">
                <a16:creationId xmlns:a16="http://schemas.microsoft.com/office/drawing/2014/main" id="{65D790A0-C225-719C-B5B8-527FAE8D2620}"/>
              </a:ext>
            </a:extLst>
          </p:cNvPr>
          <p:cNvSpPr>
            <a:spLocks noGrp="1" noChangeArrowheads="1"/>
          </p:cNvSpPr>
          <p:nvPr>
            <p:ph type="title"/>
          </p:nvPr>
        </p:nvSpPr>
        <p:spPr/>
        <p:txBody>
          <a:bodyPr/>
          <a:lstStyle/>
          <a:p>
            <a:pPr eaLnBrk="1" hangingPunct="1"/>
            <a:br>
              <a:rPr lang="en-US" altLang="en-US" sz="3200"/>
            </a:br>
            <a:endParaRPr lang="en-US" altLang="en-US" sz="3200"/>
          </a:p>
        </p:txBody>
      </p:sp>
      <p:sp>
        <p:nvSpPr>
          <p:cNvPr id="80902" name="Rectangle 6">
            <a:extLst>
              <a:ext uri="{FF2B5EF4-FFF2-40B4-BE49-F238E27FC236}">
                <a16:creationId xmlns:a16="http://schemas.microsoft.com/office/drawing/2014/main" id="{787A6195-EBB8-8F15-BA61-DCFAB0CBAF24}"/>
              </a:ext>
            </a:extLst>
          </p:cNvPr>
          <p:cNvSpPr>
            <a:spLocks noGrp="1" noChangeArrowheads="1"/>
          </p:cNvSpPr>
          <p:nvPr>
            <p:ph type="body" idx="1"/>
          </p:nvPr>
        </p:nvSpPr>
        <p:spPr>
          <a:xfrm>
            <a:off x="1219200" y="1752600"/>
            <a:ext cx="8229600" cy="4114800"/>
          </a:xfrm>
        </p:spPr>
        <p:txBody>
          <a:bodyPr/>
          <a:lstStyle/>
          <a:p>
            <a:pPr marL="609600" indent="-609600" eaLnBrk="1" hangingPunct="1">
              <a:buFontTx/>
              <a:buAutoNum type="arabicPeriod"/>
            </a:pPr>
            <a:r>
              <a:rPr lang="en-US" altLang="en-US" sz="3300">
                <a:solidFill>
                  <a:schemeClr val="hlink"/>
                </a:solidFill>
                <a:latin typeface="Garamond" panose="02020404030301010803" pitchFamily="18" charset="0"/>
              </a:rPr>
              <a:t>问题？</a:t>
            </a:r>
          </a:p>
          <a:p>
            <a:pPr marL="609600" indent="-609600" eaLnBrk="1" hangingPunct="1">
              <a:buFontTx/>
              <a:buAutoNum type="arabicPeriod"/>
            </a:pPr>
            <a:endParaRPr lang="en-US" altLang="en-US" sz="3300">
              <a:solidFill>
                <a:schemeClr val="hlink"/>
              </a:solidFill>
              <a:latin typeface="Garamond" panose="02020404030301010803" pitchFamily="18" charset="0"/>
            </a:endParaRPr>
          </a:p>
          <a:p>
            <a:pPr marL="609600" indent="-609600" eaLnBrk="1" hangingPunct="1">
              <a:buFontTx/>
              <a:buAutoNum type="arabicPeriod"/>
            </a:pPr>
            <a:r>
              <a:rPr lang="en-US" altLang="en-US" sz="3300">
                <a:solidFill>
                  <a:schemeClr val="hlink"/>
                </a:solidFill>
                <a:latin typeface="Garamond" panose="02020404030301010803" pitchFamily="18" charset="0"/>
              </a:rPr>
              <a:t>评论？</a:t>
            </a:r>
          </a:p>
          <a:p>
            <a:pPr marL="609600" indent="-609600" eaLnBrk="1" hangingPunct="1">
              <a:buFontTx/>
              <a:buAutoNum type="arabicPeriod"/>
            </a:pPr>
            <a:endParaRPr lang="en-US" altLang="en-US" sz="3300">
              <a:solidFill>
                <a:schemeClr val="hlink"/>
              </a:solidFill>
              <a:latin typeface="Garamond" panose="02020404030301010803" pitchFamily="18" charset="0"/>
            </a:endParaRPr>
          </a:p>
          <a:p>
            <a:pPr marL="609600" indent="-609600" eaLnBrk="1" hangingPunct="1">
              <a:buFontTx/>
              <a:buNone/>
            </a:pPr>
            <a:endParaRPr lang="en-US" altLang="en-US" sz="3300">
              <a:solidFill>
                <a:schemeClr val="hlink"/>
              </a:solidFill>
              <a:latin typeface="Garamond" panose="02020404030301010803" pitchFamily="18"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80900"/>
                                        </p:tgtEl>
                                        <p:attrNameLst>
                                          <p:attrName>style.visibility</p:attrName>
                                        </p:attrNameLst>
                                      </p:cBhvr>
                                      <p:to>
                                        <p:strVal val="visible"/>
                                      </p:to>
                                    </p:set>
                                    <p:animEffect transition="in" filter="fade">
                                      <p:cBhvr>
                                        <p:cTn id="7" dur="2000"/>
                                        <p:tgtEl>
                                          <p:spTgt spid="80900"/>
                                        </p:tgtEl>
                                      </p:cBhvr>
                                    </p:animEffect>
                                  </p:childTnLst>
                                </p:cTn>
                              </p:par>
                              <p:par>
                                <p:cTn id="8" presetID="10" presetClass="entr" presetSubtype="0" fill="hold" nodeType="withEffect">
                                  <p:stCondLst>
                                    <p:cond delay="0"/>
                                  </p:stCondLst>
                                  <p:childTnLst>
                                    <p:set>
                                      <p:cBhvr>
                                        <p:cTn id="9" dur="1" fill="hold">
                                          <p:stCondLst>
                                            <p:cond delay="0"/>
                                          </p:stCondLst>
                                        </p:cTn>
                                        <p:tgtEl>
                                          <p:spTgt spid="80902"/>
                                        </p:tgtEl>
                                        <p:attrNameLst>
                                          <p:attrName>style.visibility</p:attrName>
                                        </p:attrNameLst>
                                      </p:cBhvr>
                                      <p:to>
                                        <p:strVal val="visible"/>
                                      </p:to>
                                    </p:set>
                                    <p:animEffect transition="in" filter="fade">
                                      <p:cBhvr>
                                        <p:cTn id="10" dur="2000"/>
                                        <p:tgtEl>
                                          <p:spTgt spid="80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p:bldP spid="80902" grpId="0"/>
    </p:bldLst>
  </p:timing>
</p:sld>
</file>

<file path=ppt/theme/theme1.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pitchFamily="1"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pitchFamily="1" charset="0"/>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Eclipse</Template>
  <TotalTime>0</TotalTime>
  <Words>2845</Words>
  <Application>Microsoft Office PowerPoint</Application>
  <PresentationFormat>On-screen Show (4:3)</PresentationFormat>
  <Paragraphs>330</Paragraphs>
  <Slides>50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50</vt:i4>
      </vt:variant>
    </vt:vector>
  </HeadingPairs>
  <TitlesOfParts>
    <vt:vector size="57" baseType="lpstr">
      <vt:lpstr>Verdana</vt:lpstr>
      <vt:lpstr>ＭＳ Ｐゴシック</vt:lpstr>
      <vt:lpstr>Arial</vt:lpstr>
      <vt:lpstr>Wingdings</vt:lpstr>
      <vt:lpstr>Freestyle Script</vt:lpstr>
      <vt:lpstr>Garamond</vt:lpstr>
      <vt:lpstr>Eclipse</vt:lpstr>
      <vt:lpstr>PowerPoint Presentation</vt:lpstr>
      <vt:lpstr>Why a class on Non-Violent Communication?</vt:lpstr>
      <vt:lpstr>Why a class on Non-Violent Communication?</vt:lpstr>
      <vt:lpstr>Founder Marshall B. Rosenberg </vt:lpstr>
      <vt:lpstr>Rosenberg’s Two Motivating Questions </vt:lpstr>
      <vt:lpstr>What is NVC? </vt:lpstr>
      <vt:lpstr> What is NVC? </vt:lpstr>
      <vt:lpstr>Basic Assumptions of NVC</vt:lpstr>
      <vt:lpstr>What NVC Attempts to Avoid </vt:lpstr>
      <vt:lpstr>Life Alienating Communication Moralistic Judgments </vt:lpstr>
      <vt:lpstr>Life Alienating Communication Denial of Responsibility</vt:lpstr>
      <vt:lpstr>Life Alienating Communication Denial of Responsibility Examples of common expressions: </vt:lpstr>
      <vt:lpstr>Life Alienating Communication  Communicating Desires as Demands</vt:lpstr>
      <vt:lpstr>Life Alienating Communication Certain actions merit reward/punishment </vt:lpstr>
      <vt:lpstr>Rosenberg </vt:lpstr>
      <vt:lpstr>HOW TO SPEAK </vt:lpstr>
      <vt:lpstr>Four Components to NVC</vt:lpstr>
      <vt:lpstr>First Step</vt:lpstr>
      <vt:lpstr>Deciphering Observation From Evaluation </vt:lpstr>
      <vt:lpstr>Observe without Evaluating </vt:lpstr>
      <vt:lpstr>Observation without Evaluation </vt:lpstr>
      <vt:lpstr>Second Step </vt:lpstr>
      <vt:lpstr>Identifying and Expressing Feelings</vt:lpstr>
      <vt:lpstr>Feelings versus Non-Feelings </vt:lpstr>
      <vt:lpstr>Feelings versus Non-Feelings</vt:lpstr>
      <vt:lpstr>Fake- Feelings</vt:lpstr>
      <vt:lpstr>Many Feeling Words!! </vt:lpstr>
      <vt:lpstr>Third Step </vt:lpstr>
      <vt:lpstr>Taking Responsibility for our Feelings/  Understanding our Needs</vt:lpstr>
      <vt:lpstr>Four options when receiving negative messages:  Example Someone says: “You’re the most self-centered person I know!”</vt:lpstr>
      <vt:lpstr>Taking responsibility for our feelings  Steps to taking responsibility: </vt:lpstr>
      <vt:lpstr>Fourth Step </vt:lpstr>
      <vt:lpstr>Making a Request  Rosenberg </vt:lpstr>
      <vt:lpstr>Requesting That Which Would Enrich Life</vt:lpstr>
      <vt:lpstr>Making a request Request verses Demand </vt:lpstr>
      <vt:lpstr>Four Components to NVC</vt:lpstr>
      <vt:lpstr>Receiving Empathically </vt:lpstr>
      <vt:lpstr>Responses that block empathy </vt:lpstr>
      <vt:lpstr>Carl Rogers </vt:lpstr>
      <vt:lpstr>Listening for Feelings and Needs </vt:lpstr>
      <vt:lpstr>The Power of Empathy </vt:lpstr>
      <vt:lpstr>When Pain Blocks our Ability to Empathize </vt:lpstr>
      <vt:lpstr>Connecting Compassionately with Ourselves </vt:lpstr>
      <vt:lpstr>Connecting Compassionately with Ourselves </vt:lpstr>
      <vt:lpstr> Connecting Compassionately with Ourselves  Translate “have to” into “choose to”</vt:lpstr>
      <vt:lpstr>  Connecting Compassionately with Ourselves  Cultivating Awareness of the Energy Behind our Actions </vt:lpstr>
      <vt:lpstr>Rosenberg's Advice </vt:lpstr>
      <vt:lpstr>Connecting Compassionately with Ourselves</vt:lpstr>
      <vt:lpstr>Serenity Prayer</vt:lpstr>
      <vt:lpstr> </vt:lpstr>
    </vt:vector>
  </TitlesOfParts>
  <Company>OCF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 Violent Communication  A Language of Life</dc:title>
  <dc:creator>OCF</dc:creator>
  <cp:lastModifiedBy>Weichen Gu</cp:lastModifiedBy>
  <cp:revision>25</cp:revision>
  <dcterms:created xsi:type="dcterms:W3CDTF">2012-04-13T19:04:59Z</dcterms:created>
  <dcterms:modified xsi:type="dcterms:W3CDTF">2026-03-01T03:03:38Z</dcterms:modified>
</cp:coreProperties>
</file>