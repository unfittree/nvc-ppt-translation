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sldIdLst>
    <p:sldId id="267" r:id="rId2"/>
    <p:sldId id="279" r:id="rId3"/>
    <p:sldId id="259" r:id="rId4"/>
    <p:sldId id="273" r:id="rId5"/>
    <p:sldId id="275" r:id="rId6"/>
    <p:sldId id="280" r:id="rId7"/>
    <p:sldId id="264" r:id="rId8"/>
    <p:sldId id="277" r:id="rId9"/>
    <p:sldId id="261" r:id="rId10"/>
    <p:sldId id="282" r:id="rId11"/>
    <p:sldId id="271" r:id="rId12"/>
    <p:sldId id="278" r:id="rId13"/>
    <p:sldId id="265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  <a:srgbClr val="FF8000"/>
    <a:srgbClr val="800080"/>
    <a:srgbClr val="996633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96" autoAdjust="0"/>
  </p:normalViewPr>
  <p:slideViewPr>
    <p:cSldViewPr>
      <p:cViewPr>
        <p:scale>
          <a:sx n="100" d="100"/>
          <a:sy n="100" d="100"/>
        </p:scale>
        <p:origin x="-864" y="-1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FB17CA-CCDC-259E-CD5F-4192B2F7E9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DE168B2-C784-19B1-3D90-4EA284EECD0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4F5D216-031A-6D81-657F-331669F57918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CF314F2-9FF6-2369-C2D3-041E502FDDB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D3AF875-5768-75DF-2C5D-0B1554714F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3F5A8EA-04E9-E325-6B74-98EBC6223A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C5E24B9-61E5-46FF-A06F-86DAD74E0E2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4FE2BACE-C4DF-9F15-A0E8-F2BC1C7E30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F4F31D-ED6A-4253-9FAE-83DDCB295997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99567DD-474B-398B-CD05-425039EE28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EB3B2CB-A727-52B6-AADE-9BC3F3DB2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B384AD98-BB4D-09B0-4D54-3416F38BE1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B94C807-E03E-4ABB-8D30-18C12A0090C0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2D27B67-82F8-D969-5C14-3F060674D0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5AFB976-C46D-E171-F5A4-04B89AE4C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081091F9-35A7-6528-78B8-EFEA6C91B1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1C8AC5E-2B24-4480-B7D8-80CB1C46DDAE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8D3EF9F-42D6-35D2-60A7-4B016D8B52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FDB56A9-1A25-AAE4-7094-8B0A7D255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3FDDEC9-3D92-12EE-BB4D-0EE3604F50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84E1AE8-9E6F-401D-BA50-ACD86B54259A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35DC883-EE48-BA2A-1542-896338DBB6E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4933457-86EF-0F61-3BD4-B5E0608CE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678CA46F-5A32-7506-154E-338643560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820171-F169-420B-ABEB-54A409667511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39B9D5C-FED6-D49D-A9AE-4B7399A8E2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D1A0F87-5E19-BE50-A935-B8FC35722B3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7CD5B03F-F143-2D87-57D1-BD69AC390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F068870-C399-429E-8A68-04C7BF2F08F0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7EB8F02-AEBD-9F7D-41F9-737D48C94E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AF9E589F-878B-B480-68C1-8639809E848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001738B2-7860-D5E3-FB8B-4E765C5BF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F7297A-2975-449D-9DD2-CF85843B947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CE88A58-98F4-526E-E9B0-3AB22B0A652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54F1539-8D3A-5425-482E-7CB9BD05D33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A990BF8F-4E1D-3A46-122F-BF01B8F44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0C4C2C-5ED8-488F-86C6-5D2B7B5FECE4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F4F0C6D-B61E-A159-A591-89883CD81E8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BDB1E55-156C-F5CF-A8BB-9502222CD94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1AD732B-F5BD-3C1F-BB75-025492E58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A66A10-1472-46FB-96F6-3AE7140D0A92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FC68997-55F9-4800-0E3A-2D7E00A61D8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08A09E7F-5A80-B6E7-2F28-89479E726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1D75AE21-3690-66E9-2C90-842AF98D8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BD917F-496A-40C5-8470-4048B155405F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809969F-EA35-7210-62C8-6B1FB6204A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0A54DD9-3A57-A857-D563-6549FCEE0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BB979AE-A55B-EA5F-5675-DD33BFD2F2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CADE17-44AB-4197-B8E1-2987EC139A76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1CA4EAB-7F9B-72FA-1DFB-F123747812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AF60F582-B245-085B-A02A-0970C1A947A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27C6A19-8B9C-1528-6F9B-46AD410F88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078069-570B-454E-810B-7BCF85D878E7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5C27AAE-FAE7-7AB1-685A-E4DA1CD7D6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0C59858-8273-1C98-6F1C-FA4D65EDE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3F39C4C-A40A-28D8-3B8F-537E467088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9B85C7F-F448-4E8C-A3E9-76C7426304F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91A26B5-8D80-EC74-6296-EC7DB5E91C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C5670DD-82CC-3522-58AE-1746C7FA6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8657D6-77F5-2694-513A-60C3821C44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331064-B4E0-EB0C-733F-0E503822BD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05800A-421F-76DD-BABD-A25F1A9CC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374085-F96D-45B8-A1F9-8D373BD630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56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1B082D-D50C-B51A-7DDC-A318CE0001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7C0D15-1784-A7CF-37E8-52A8996DA2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5AFDFC-97A3-CFF8-1C81-5036E6A845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3C4DC2-8FF8-4D73-A46F-786431C694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74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35664C-6C0C-421B-9D71-2034E07F2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94ADF3-1A0A-8C65-6BEF-C8307942C5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6394C3-0569-047C-9B37-6F8DC7BFD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EEACD6-147D-406B-BE43-E9665634EA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66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5EA454-38AC-56CA-06C8-F8D49D5DB8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7BE65-3014-3854-583F-0FAE5E72BE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BFBC92-5AC5-8FEC-BB55-2FD35945BB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35A656-DC84-4688-9662-E2641A47FC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749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1CC032B-8456-5978-BC1E-F38A829B3B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5196E4D-A70F-01E4-F33F-BF1CFE685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254F9B-75CA-5ED9-D8A9-4DE136E5D3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72FF13-722F-46EF-8D9A-E69B94DD1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505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63D7DF6-6232-2FAA-6849-1CF8173F37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2B42AEC-880C-0AF4-88DA-3D868AA783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B0C499-220A-6664-5EEC-DDB1E43963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9D34C4-2C08-45E5-A58C-BA5AECAE4A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92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8EF0084-E90A-1BE9-AEDC-BD817D726C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727B2F-062D-A5EF-54A7-1397CD81C2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E530EA-AFC7-4E5B-4A84-8EF82910F8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CC3E89-D9B3-47AE-A9F7-80D0EA9FCF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47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AE624-FC64-7513-7AC8-0A5051561C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7E192-249D-ADAC-703A-EBC2179F7C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06F88-76BC-0369-4470-6616B71C50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E2259-6741-4BE5-B5DC-2F6D5FE6FA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930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24ADC-F105-20CD-038B-8CF8B4F315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9EA8CD-3FF4-AB27-B042-1524195493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1D6A9F-00A1-3703-5952-057812F4FA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8BAE6E-B9EF-44A4-8006-CC582EECB0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93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C4ACBA-E4AE-CE77-BD25-8EE034EEA5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A5A09C-F6BB-161D-238E-AC79878F72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591B94-B54E-01F3-8D4A-F8860D559F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7D522-E9C7-417A-9BBD-0C84DBA458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01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1BC32E-0BF0-4A99-037C-79AC430FE5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FEE204-FCE9-CDD3-8267-05CB602D6B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7D0378-70F8-C2B2-ADDE-90EFC1537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483994-7DA3-467B-927E-3CE3FD82E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0187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F5D4C60-BB21-F0B4-E0FC-81A873BDA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EE590C-8652-3BF5-CA7C-C0BD370CA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95C683-97C0-7DE1-5D6D-4A1E870B14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EFEB4F-676A-91D1-D988-BE626BE164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D8B94EC-ED70-20F9-1BC3-E3E7EC335B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3D3FCE7-812F-4E8B-A81A-63E718D8DD0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Bydhuxilg_A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cnvc.org" TargetMode="External"/><Relationship Id="rId4" Type="http://schemas.openxmlformats.org/officeDocument/2006/relationships/hyperlink" Target="http://www.youtube.com" TargetMode="External"/><Relationship Id="rId5" Type="http://schemas.openxmlformats.org/officeDocument/2006/relationships/hyperlink" Target="http://www.nvctraining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52EA46-B774-82BA-470D-DEC5DA3D6C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533400"/>
            <a:ext cx="7772400" cy="1905000"/>
          </a:xfrm>
        </p:spPr>
        <p:txBody>
          <a:bodyPr/>
          <a:lstStyle/>
          <a:p>
            <a:pPr eaLnBrk="1" hangingPunct="1"/>
            <a:r>
              <a:rPr lang="en-US" altLang="en-US" b="1"/>
              <a:t>亲密关系中的 非暴力沟通：简介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6D23E4F-C118-AF74-FFD8-301F4A7B7A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2819400"/>
            <a:ext cx="64008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伊莱恩·史彭金博士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UIUC心理服务中心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东格林街 505 号，3 楼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/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米哈伊尔·柳班斯基博士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心理学系</a:t>
            </a:r>
          </a:p>
        </p:txBody>
      </p:sp>
      <p:pic>
        <p:nvPicPr>
          <p:cNvPr id="2052" name="Picture 4" descr="illinois_mark_with_university">
            <a:extLst>
              <a:ext uri="{FF2B5EF4-FFF2-40B4-BE49-F238E27FC236}">
                <a16:creationId xmlns:a16="http://schemas.microsoft.com/office/drawing/2014/main" id="{CAE6F649-DBEF-8FD1-66C8-0CA808CA1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791200"/>
            <a:ext cx="3783013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marshall">
            <a:extLst>
              <a:ext uri="{FF2B5EF4-FFF2-40B4-BE49-F238E27FC236}">
                <a16:creationId xmlns:a16="http://schemas.microsoft.com/office/drawing/2014/main" id="{40A7A671-C18D-8F90-64EA-CB7DD3E42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76400"/>
            <a:ext cx="2817813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Box 5">
            <a:extLst>
              <a:ext uri="{FF2B5EF4-FFF2-40B4-BE49-F238E27FC236}">
                <a16:creationId xmlns:a16="http://schemas.microsoft.com/office/drawing/2014/main" id="{07D08ED8-8466-0C0B-5998-ECCE7C657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6388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马歇尔·罗森伯格博士（创始人）</a:t>
            </a:r>
          </a:p>
        </p:txBody>
      </p:sp>
      <p:sp>
        <p:nvSpPr>
          <p:cNvPr id="3076" name="Text Box 6">
            <a:extLst>
              <a:ext uri="{FF2B5EF4-FFF2-40B4-BE49-F238E27FC236}">
                <a16:creationId xmlns:a16="http://schemas.microsoft.com/office/drawing/2014/main" id="{5C682589-0217-6772-7CD3-3B3840766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85800"/>
            <a:ext cx="7543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b="1"/>
              <a:t>非暴力沟通 (NVC（非暴力沟通）)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">
            <a:extLst>
              <a:ext uri="{FF2B5EF4-FFF2-40B4-BE49-F238E27FC236}">
                <a16:creationId xmlns:a16="http://schemas.microsoft.com/office/drawing/2014/main" id="{A8D64BA8-447E-17FA-3832-1E81766C4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534400" cy="593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0188" indent="-2301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5800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/>
              <a:t>非暴力沟通 (NVC（非暴力沟通）):</a:t>
            </a:r>
            <a:endParaRPr lang="en-US" altLang="en-US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指导理念（慈悲、权力、尊严、相互）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支持这一理念的沟通方法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一种已成功应用于以下领域的方法：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/>
              <a:t>人际关系（伴侣、亲子、室友）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/>
              <a:t>社会和个人改变努力（治疗、辅导、宣传、说服性沟通）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/>
              <a:t>商业实践（在组织、机构中）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/>
              <a:t>社区和系统（学校、监狱）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/>
              <a:t>冲突 分辨率（组内和组间）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6B1923B-0961-D3B2-0E1B-9F6D5BD02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/>
              <a:t>想象一下如果……</a:t>
            </a:r>
            <a:endParaRPr lang="en-US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93BE3F2-3554-B5EF-2AFF-E8421FFFA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u="sng"/>
              <a:t>场景1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900" u="sng"/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800"/>
              <a:t>想象一下，您正赶着去参加上午 9 点与您</a:t>
            </a:r>
            <a:r>
              <a:rPr lang="en-US" altLang="en-US" sz="2800" u="sng"/>
              <a:t>认识的特定</a:t>
            </a:r>
            <a:r>
              <a:rPr lang="en-US" altLang="en-US" sz="2800"/>
              <a:t>人士的会</a:t>
            </a:r>
            <a:r>
              <a:rPr lang="en-US" altLang="en-US" sz="2400" i="1"/>
              <a:t>议。 （写下人名）</a:t>
            </a:r>
            <a:r>
              <a:rPr lang="en-US" altLang="en-US" sz="2800"/>
              <a:t/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800"/>
              <a:t>你8点58分到达那里。另一个人9点10分到达。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800"/>
              <a:t>请写下（简要）：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/>
              <a:t>你感受在想什么？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/>
              <a:t>为什么？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/>
              <a:t>结果，你会如何对待他人？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6C10F8-A134-E4DD-5307-5665EAC9E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/>
              <a:t>想象一下如果……</a:t>
            </a: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6A6F582-3F59-0204-AC08-ED2A43900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0668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u="sng"/>
              <a:t>场景2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900" u="sng"/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800"/>
              <a:t>想象一下，您正赶着去参加上午 9 点的会议。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800"/>
              <a:t>你9点10分到达那里，正好另一个人冲进来，也是9点10分。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800"/>
              <a:t>请写下（简要）：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/>
              <a:t>你感受在想什么？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/>
              <a:t>为什么？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/>
              <a:t>结果，你会如何对待他人？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2">
            <a:extLst>
              <a:ext uri="{FF2B5EF4-FFF2-40B4-BE49-F238E27FC236}">
                <a16:creationId xmlns:a16="http://schemas.microsoft.com/office/drawing/2014/main" id="{7FAAEB81-A372-83AD-60F7-17BF65A52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838200"/>
            <a:ext cx="5181600" cy="4724400"/>
          </a:xfrm>
          <a:prstGeom prst="ellipse">
            <a:avLst/>
          </a:prstGeom>
          <a:solidFill>
            <a:srgbClr val="FF0000"/>
          </a:solidFill>
          <a:ln w="158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171" name="Oval 3">
            <a:extLst>
              <a:ext uri="{FF2B5EF4-FFF2-40B4-BE49-F238E27FC236}">
                <a16:creationId xmlns:a16="http://schemas.microsoft.com/office/drawing/2014/main" id="{B9F3A7D8-E5F6-517F-D58E-3E3DE0930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1444625"/>
            <a:ext cx="3711575" cy="3402013"/>
          </a:xfrm>
          <a:prstGeom prst="ellipse">
            <a:avLst/>
          </a:prstGeom>
          <a:solidFill>
            <a:srgbClr val="FF8000"/>
          </a:solidFill>
          <a:ln w="158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172" name="Oval 4">
            <a:extLst>
              <a:ext uri="{FF2B5EF4-FFF2-40B4-BE49-F238E27FC236}">
                <a16:creationId xmlns:a16="http://schemas.microsoft.com/office/drawing/2014/main" id="{0A5DD9F3-0D8E-0D9D-974B-AE11B6482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075" y="2105025"/>
            <a:ext cx="2422525" cy="2085975"/>
          </a:xfrm>
          <a:prstGeom prst="ellipse">
            <a:avLst/>
          </a:prstGeom>
          <a:solidFill>
            <a:schemeClr val="hlink"/>
          </a:solidFill>
          <a:ln w="158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173" name="Oval 5">
            <a:extLst>
              <a:ext uri="{FF2B5EF4-FFF2-40B4-BE49-F238E27FC236}">
                <a16:creationId xmlns:a16="http://schemas.microsoft.com/office/drawing/2014/main" id="{42CAD2A0-5881-32CB-E4D7-0EFB087A3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603500"/>
            <a:ext cx="1223962" cy="1127125"/>
          </a:xfrm>
          <a:prstGeom prst="ellipse">
            <a:avLst/>
          </a:prstGeom>
          <a:solidFill>
            <a:srgbClr val="0000FF"/>
          </a:solidFill>
          <a:ln w="158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88344EBB-325C-0F5F-2073-53DB1C4C8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971800"/>
            <a:ext cx="10906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chemeClr val="bg1"/>
                </a:solidFill>
              </a:rPr>
              <a:t>需要</a:t>
            </a:r>
            <a:endParaRPr lang="en-US" altLang="en-US" sz="1400"/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88001272-61FC-CAA0-DBAD-DE81264E4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09800"/>
            <a:ext cx="1362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chemeClr val="bg1"/>
                </a:solidFill>
              </a:rPr>
              <a:t>感受</a:t>
            </a:r>
            <a:endParaRPr lang="en-US" altLang="en-US" sz="1400">
              <a:solidFill>
                <a:schemeClr val="bg1"/>
              </a:solidFill>
            </a:endParaRPr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48A5D46C-66A9-39CA-750F-A90B41F57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676400"/>
            <a:ext cx="14970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chemeClr val="bg1"/>
                </a:solidFill>
              </a:rPr>
              <a:t>策略</a:t>
            </a:r>
            <a:endParaRPr lang="en-US" altLang="en-US"/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0935FD08-CC1E-4C04-86AA-0BC52198C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066800"/>
            <a:ext cx="177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chemeClr val="bg1"/>
                </a:solidFill>
              </a:rPr>
              <a:t>评价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4C1EEE8C-D794-ECBE-41D8-99F90870D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4368800"/>
            <a:ext cx="172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179" name="Text Box 11">
            <a:extLst>
              <a:ext uri="{FF2B5EF4-FFF2-40B4-BE49-F238E27FC236}">
                <a16:creationId xmlns:a16="http://schemas.microsoft.com/office/drawing/2014/main" id="{9965B040-1F96-29F6-A271-C98A52824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72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NVC（非暴力沟通） 型号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val 2">
            <a:extLst>
              <a:ext uri="{FF2B5EF4-FFF2-40B4-BE49-F238E27FC236}">
                <a16:creationId xmlns:a16="http://schemas.microsoft.com/office/drawing/2014/main" id="{F451ACC4-3304-3755-26AA-EC4DF9AD5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590800"/>
            <a:ext cx="19050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>
                <a:solidFill>
                  <a:srgbClr val="0000FF"/>
                </a:solidFill>
              </a:rPr>
              <a:t>需要</a:t>
            </a:r>
          </a:p>
          <a:p>
            <a:pPr algn="ctr"/>
            <a:endParaRPr lang="en-US" altLang="en-US"/>
          </a:p>
        </p:txBody>
      </p:sp>
      <p:sp>
        <p:nvSpPr>
          <p:cNvPr id="8195" name="Oval 9">
            <a:extLst>
              <a:ext uri="{FF2B5EF4-FFF2-40B4-BE49-F238E27FC236}">
                <a16:creationId xmlns:a16="http://schemas.microsoft.com/office/drawing/2014/main" id="{59F65B7A-59E5-3618-A36F-892B0BB4B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838200"/>
            <a:ext cx="5410200" cy="518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8196" name="Rectangle 10">
            <a:extLst>
              <a:ext uri="{FF2B5EF4-FFF2-40B4-BE49-F238E27FC236}">
                <a16:creationId xmlns:a16="http://schemas.microsoft.com/office/drawing/2014/main" id="{3116F097-02D1-0C93-2FED-15A24257E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219200"/>
            <a:ext cx="1928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8000"/>
                </a:solidFill>
              </a:rPr>
              <a:t>策略</a:t>
            </a:r>
            <a:endParaRPr lang="en-US" altLang="en-US" sz="1200">
              <a:solidFill>
                <a:srgbClr val="996633"/>
              </a:solidFill>
            </a:endParaRPr>
          </a:p>
        </p:txBody>
      </p:sp>
      <p:sp>
        <p:nvSpPr>
          <p:cNvPr id="8197" name="Oval 16">
            <a:extLst>
              <a:ext uri="{FF2B5EF4-FFF2-40B4-BE49-F238E27FC236}">
                <a16:creationId xmlns:a16="http://schemas.microsoft.com/office/drawing/2014/main" id="{64F99992-6442-AB9E-75A4-56BD8928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28600"/>
            <a:ext cx="6781800" cy="6477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8198" name="Rectangle 17">
            <a:extLst>
              <a:ext uri="{FF2B5EF4-FFF2-40B4-BE49-F238E27FC236}">
                <a16:creationId xmlns:a16="http://schemas.microsoft.com/office/drawing/2014/main" id="{CEF3018C-308F-4BB3-1575-B18249590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57200"/>
            <a:ext cx="2297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评价</a:t>
            </a:r>
            <a:endParaRPr lang="en-US" altLang="en-US" sz="1200">
              <a:solidFill>
                <a:srgbClr val="996633"/>
              </a:solidFill>
            </a:endParaRPr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94558396-1932-894B-B30C-6324B71D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2971800"/>
            <a:ext cx="12858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无能</a:t>
            </a:r>
            <a:endParaRPr lang="en-US" altLang="en-US" b="1"/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BE11230B-9796-D9C6-0928-2B2911C69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524000"/>
            <a:ext cx="1193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不在乎</a:t>
            </a:r>
            <a:endParaRPr lang="en-US" altLang="en-US"/>
          </a:p>
        </p:txBody>
      </p:sp>
      <p:sp>
        <p:nvSpPr>
          <p:cNvPr id="37908" name="Text Box 20">
            <a:extLst>
              <a:ext uri="{FF2B5EF4-FFF2-40B4-BE49-F238E27FC236}">
                <a16:creationId xmlns:a16="http://schemas.microsoft.com/office/drawing/2014/main" id="{2261FE66-E215-B4B5-3F5F-BBDF7686E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6097588"/>
            <a:ext cx="14700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无能</a:t>
            </a:r>
            <a:endParaRPr lang="en-US" altLang="en-US"/>
          </a:p>
        </p:txBody>
      </p:sp>
      <p:sp>
        <p:nvSpPr>
          <p:cNvPr id="37909" name="Text Box 21">
            <a:extLst>
              <a:ext uri="{FF2B5EF4-FFF2-40B4-BE49-F238E27FC236}">
                <a16:creationId xmlns:a16="http://schemas.microsoft.com/office/drawing/2014/main" id="{96B83CC2-0DD2-3574-5CE1-FBA4F94FC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000"/>
            <a:ext cx="12858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自私</a:t>
            </a:r>
            <a:endParaRPr lang="en-US" altLang="en-US"/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22236DFA-9D74-F88C-3B98-70DBD4BFC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038600"/>
            <a:ext cx="1009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混蛋</a:t>
            </a:r>
            <a:endParaRPr lang="en-US" altLang="en-US"/>
          </a:p>
        </p:txBody>
      </p:sp>
      <p:sp>
        <p:nvSpPr>
          <p:cNvPr id="37913" name="Text Box 25">
            <a:extLst>
              <a:ext uri="{FF2B5EF4-FFF2-40B4-BE49-F238E27FC236}">
                <a16:creationId xmlns:a16="http://schemas.microsoft.com/office/drawing/2014/main" id="{016D4900-1487-E1CB-A13C-85924ADB8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334000"/>
            <a:ext cx="1009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粗鲁的</a:t>
            </a:r>
            <a:endParaRPr lang="en-US" altLang="en-US"/>
          </a:p>
        </p:txBody>
      </p:sp>
      <p:sp>
        <p:nvSpPr>
          <p:cNvPr id="37914" name="Text Box 26">
            <a:extLst>
              <a:ext uri="{FF2B5EF4-FFF2-40B4-BE49-F238E27FC236}">
                <a16:creationId xmlns:a16="http://schemas.microsoft.com/office/drawing/2014/main" id="{9F17714B-53CA-7661-21E2-01D245027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200400"/>
            <a:ext cx="1238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不值得信赖</a:t>
            </a:r>
            <a:endParaRPr lang="en-US" altLang="en-US"/>
          </a:p>
        </p:txBody>
      </p:sp>
      <p:sp>
        <p:nvSpPr>
          <p:cNvPr id="37915" name="Text Box 27">
            <a:extLst>
              <a:ext uri="{FF2B5EF4-FFF2-40B4-BE49-F238E27FC236}">
                <a16:creationId xmlns:a16="http://schemas.microsoft.com/office/drawing/2014/main" id="{A3DF041D-7B6C-297B-EF40-0FE96E0B6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066800"/>
            <a:ext cx="12858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杂乱无章</a:t>
            </a:r>
            <a:endParaRPr lang="en-US" altLang="en-US"/>
          </a:p>
        </p:txBody>
      </p:sp>
      <p:sp>
        <p:nvSpPr>
          <p:cNvPr id="8207" name="Text Box 36">
            <a:extLst>
              <a:ext uri="{FF2B5EF4-FFF2-40B4-BE49-F238E27FC236}">
                <a16:creationId xmlns:a16="http://schemas.microsoft.com/office/drawing/2014/main" id="{94BDD87C-42CF-5913-D350-3A750F3B1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"/>
            <a:ext cx="1447800" cy="957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/>
              <a:t>NVC（非暴力沟通） 型号</a:t>
            </a:r>
          </a:p>
          <a:p>
            <a:pPr>
              <a:spcBef>
                <a:spcPct val="50000"/>
              </a:spcBef>
            </a:pPr>
            <a:r>
              <a:rPr lang="en-US" altLang="en-US" sz="1600" b="1"/>
              <a:t>应用于场景1</a:t>
            </a:r>
            <a:endParaRPr lang="en-US" altLang="en-US" b="1"/>
          </a:p>
        </p:txBody>
      </p:sp>
      <p:sp>
        <p:nvSpPr>
          <p:cNvPr id="8208" name="Oval 38">
            <a:extLst>
              <a:ext uri="{FF2B5EF4-FFF2-40B4-BE49-F238E27FC236}">
                <a16:creationId xmlns:a16="http://schemas.microsoft.com/office/drawing/2014/main" id="{C8819027-3D02-A122-50C8-F1349EB42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76400"/>
            <a:ext cx="3733800" cy="36163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8209" name="Rectangle 39">
            <a:extLst>
              <a:ext uri="{FF2B5EF4-FFF2-40B4-BE49-F238E27FC236}">
                <a16:creationId xmlns:a16="http://schemas.microsoft.com/office/drawing/2014/main" id="{82A33A55-328B-D02C-DAA6-918AA67D0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057400"/>
            <a:ext cx="1654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chemeClr val="hlink"/>
                </a:solidFill>
              </a:rPr>
              <a:t>感受</a:t>
            </a:r>
            <a:endParaRPr lang="en-US" altLang="en-US" sz="1200"/>
          </a:p>
        </p:txBody>
      </p:sp>
      <p:sp>
        <p:nvSpPr>
          <p:cNvPr id="37929" name="Text Box 41">
            <a:extLst>
              <a:ext uri="{FF2B5EF4-FFF2-40B4-BE49-F238E27FC236}">
                <a16:creationId xmlns:a16="http://schemas.microsoft.com/office/drawing/2014/main" id="{8348F0C9-2766-1DAD-3CC8-8977A5478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286000"/>
            <a:ext cx="919163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对自己做出承诺</a:t>
            </a:r>
            <a:endParaRPr lang="en-US" altLang="en-US"/>
          </a:p>
        </p:txBody>
      </p:sp>
      <p:sp>
        <p:nvSpPr>
          <p:cNvPr id="37930" name="Text Box 42">
            <a:extLst>
              <a:ext uri="{FF2B5EF4-FFF2-40B4-BE49-F238E27FC236}">
                <a16:creationId xmlns:a16="http://schemas.microsoft.com/office/drawing/2014/main" id="{830A2422-1752-72C3-6E6B-860FABCC0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752600"/>
            <a:ext cx="9191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皱眉</a:t>
            </a:r>
            <a:endParaRPr lang="en-US" altLang="en-US" b="1"/>
          </a:p>
        </p:txBody>
      </p:sp>
      <p:sp>
        <p:nvSpPr>
          <p:cNvPr id="37931" name="Text Box 43">
            <a:extLst>
              <a:ext uri="{FF2B5EF4-FFF2-40B4-BE49-F238E27FC236}">
                <a16:creationId xmlns:a16="http://schemas.microsoft.com/office/drawing/2014/main" id="{89D94C55-F8E2-AD73-5B90-17B8DFCCD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827588"/>
            <a:ext cx="9191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避免</a:t>
            </a:r>
            <a:endParaRPr lang="en-US" altLang="en-US"/>
          </a:p>
        </p:txBody>
      </p:sp>
      <p:sp>
        <p:nvSpPr>
          <p:cNvPr id="37932" name="Text Box 44">
            <a:extLst>
              <a:ext uri="{FF2B5EF4-FFF2-40B4-BE49-F238E27FC236}">
                <a16:creationId xmlns:a16="http://schemas.microsoft.com/office/drawing/2014/main" id="{62E73E40-8AB8-C36A-9910-2B309B041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364163"/>
            <a:ext cx="1981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用削音的语气说话</a:t>
            </a:r>
            <a:endParaRPr lang="en-US" altLang="en-US" b="1"/>
          </a:p>
        </p:txBody>
      </p:sp>
      <p:sp>
        <p:nvSpPr>
          <p:cNvPr id="37933" name="Text Box 45">
            <a:extLst>
              <a:ext uri="{FF2B5EF4-FFF2-40B4-BE49-F238E27FC236}">
                <a16:creationId xmlns:a16="http://schemas.microsoft.com/office/drawing/2014/main" id="{614BFE9A-F7D1-1C92-94CC-7B88484D2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4191000"/>
            <a:ext cx="11017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威胁</a:t>
            </a:r>
            <a:endParaRPr lang="en-US" altLang="en-US"/>
          </a:p>
        </p:txBody>
      </p:sp>
      <p:sp>
        <p:nvSpPr>
          <p:cNvPr id="37936" name="Text Box 48">
            <a:extLst>
              <a:ext uri="{FF2B5EF4-FFF2-40B4-BE49-F238E27FC236}">
                <a16:creationId xmlns:a16="http://schemas.microsoft.com/office/drawing/2014/main" id="{8471DD3F-4504-60A7-5918-4C629F5C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962400"/>
            <a:ext cx="1009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</a:rPr>
              <a:t>生气</a:t>
            </a:r>
            <a:endParaRPr lang="en-US" altLang="en-US" b="1"/>
          </a:p>
        </p:txBody>
      </p:sp>
      <p:sp>
        <p:nvSpPr>
          <p:cNvPr id="37937" name="Text Box 49">
            <a:extLst>
              <a:ext uri="{FF2B5EF4-FFF2-40B4-BE49-F238E27FC236}">
                <a16:creationId xmlns:a16="http://schemas.microsoft.com/office/drawing/2014/main" id="{09912EFE-7D12-8E7B-B634-39E9D333B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724400"/>
            <a:ext cx="12858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</a:rPr>
              <a:t>沮丧的</a:t>
            </a:r>
            <a:endParaRPr lang="en-US" altLang="en-US">
              <a:solidFill>
                <a:srgbClr val="FF00FF"/>
              </a:solidFill>
            </a:endParaRPr>
          </a:p>
        </p:txBody>
      </p:sp>
      <p:sp>
        <p:nvSpPr>
          <p:cNvPr id="37938" name="Text Box 50">
            <a:extLst>
              <a:ext uri="{FF2B5EF4-FFF2-40B4-BE49-F238E27FC236}">
                <a16:creationId xmlns:a16="http://schemas.microsoft.com/office/drawing/2014/main" id="{C9615FAC-6936-3040-B541-ED1EEBC90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3048000"/>
            <a:ext cx="1009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</a:rPr>
              <a:t>焦虑的</a:t>
            </a:r>
            <a:endParaRPr lang="en-US" altLang="en-US" b="1"/>
          </a:p>
        </p:txBody>
      </p:sp>
      <p:sp>
        <p:nvSpPr>
          <p:cNvPr id="37939" name="Text Box 51">
            <a:extLst>
              <a:ext uri="{FF2B5EF4-FFF2-40B4-BE49-F238E27FC236}">
                <a16:creationId xmlns:a16="http://schemas.microsoft.com/office/drawing/2014/main" id="{B3A0DE5E-0980-9CB5-C63C-CC1015333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116388"/>
            <a:ext cx="6429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</a:rPr>
              <a:t>生气的</a:t>
            </a:r>
            <a:endParaRPr lang="en-US" altLang="en-US"/>
          </a:p>
        </p:txBody>
      </p:sp>
      <p:sp>
        <p:nvSpPr>
          <p:cNvPr id="37940" name="Text Box 52">
            <a:extLst>
              <a:ext uri="{FF2B5EF4-FFF2-40B4-BE49-F238E27FC236}">
                <a16:creationId xmlns:a16="http://schemas.microsoft.com/office/drawing/2014/main" id="{B92F3EFD-55DA-B0E5-B89B-DD65DF562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590800"/>
            <a:ext cx="14700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</a:rPr>
              <a:t>失望的</a:t>
            </a:r>
            <a:endParaRPr lang="en-US" altLang="en-US" b="1"/>
          </a:p>
        </p:txBody>
      </p:sp>
      <p:sp>
        <p:nvSpPr>
          <p:cNvPr id="37942" name="Rectangle 54">
            <a:extLst>
              <a:ext uri="{FF2B5EF4-FFF2-40B4-BE49-F238E27FC236}">
                <a16:creationId xmlns:a16="http://schemas.microsoft.com/office/drawing/2014/main" id="{071EDBCD-20BE-5AA8-5887-62FD8A0A1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3657600"/>
            <a:ext cx="1243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b="1">
                <a:solidFill>
                  <a:srgbClr val="0000FF"/>
                </a:solidFill>
              </a:rPr>
              <a:t>信任、尊重</a:t>
            </a:r>
          </a:p>
          <a:p>
            <a:r>
              <a:rPr lang="en-US" altLang="en-US" sz="1200" b="1">
                <a:solidFill>
                  <a:srgbClr val="0000FF"/>
                </a:solidFill>
              </a:rPr>
              <a:t>生产率</a:t>
            </a:r>
          </a:p>
        </p:txBody>
      </p:sp>
      <p:sp>
        <p:nvSpPr>
          <p:cNvPr id="37944" name="Text Box 56">
            <a:extLst>
              <a:ext uri="{FF2B5EF4-FFF2-40B4-BE49-F238E27FC236}">
                <a16:creationId xmlns:a16="http://schemas.microsoft.com/office/drawing/2014/main" id="{E28ABBDD-C991-7D3F-2AE6-977E86021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838" y="2819400"/>
            <a:ext cx="919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使用讽刺</a:t>
            </a:r>
            <a:endParaRPr lang="en-US" altLang="en-US" b="1"/>
          </a:p>
        </p:txBody>
      </p:sp>
      <p:sp>
        <p:nvSpPr>
          <p:cNvPr id="37945" name="Text Box 57">
            <a:extLst>
              <a:ext uri="{FF2B5EF4-FFF2-40B4-BE49-F238E27FC236}">
                <a16:creationId xmlns:a16="http://schemas.microsoft.com/office/drawing/2014/main" id="{E2D4EBB6-AFCC-335D-4617-E5BB0D40E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800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表达感受</a:t>
            </a:r>
            <a:endParaRPr lang="en-US" altLang="en-US" b="1"/>
          </a:p>
        </p:txBody>
      </p:sp>
      <p:sp>
        <p:nvSpPr>
          <p:cNvPr id="37946" name="Text Box 58">
            <a:extLst>
              <a:ext uri="{FF2B5EF4-FFF2-40B4-BE49-F238E27FC236}">
                <a16:creationId xmlns:a16="http://schemas.microsoft.com/office/drawing/2014/main" id="{84612DF7-4C4C-EE01-6574-227A7E4AB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733800"/>
            <a:ext cx="919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8000"/>
                </a:solidFill>
              </a:rPr>
              <a:t>要求 道歉</a:t>
            </a:r>
            <a:endParaRPr lang="en-US" altLang="en-US" b="1"/>
          </a:p>
        </p:txBody>
      </p:sp>
      <p:sp>
        <p:nvSpPr>
          <p:cNvPr id="37947" name="Text Box 59">
            <a:extLst>
              <a:ext uri="{FF2B5EF4-FFF2-40B4-BE49-F238E27FC236}">
                <a16:creationId xmlns:a16="http://schemas.microsoft.com/office/drawing/2014/main" id="{A750D9EB-42CD-A3B7-0A14-B7701DADE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209800"/>
            <a:ext cx="1238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</a:rPr>
              <a:t>不合时宜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6" grpId="0"/>
      <p:bldP spid="37907" grpId="0"/>
      <p:bldP spid="37908" grpId="0"/>
      <p:bldP spid="37909" grpId="0"/>
      <p:bldP spid="37910" grpId="0"/>
      <p:bldP spid="37913" grpId="0"/>
      <p:bldP spid="37914" grpId="0"/>
      <p:bldP spid="37915" grpId="0"/>
      <p:bldP spid="37929" grpId="0"/>
      <p:bldP spid="37930" grpId="0"/>
      <p:bldP spid="37931" grpId="0"/>
      <p:bldP spid="37932" grpId="0"/>
      <p:bldP spid="37933" grpId="0"/>
      <p:bldP spid="37936" grpId="0"/>
      <p:bldP spid="37937" grpId="0"/>
      <p:bldP spid="37938" grpId="0"/>
      <p:bldP spid="37939" grpId="0"/>
      <p:bldP spid="37940" grpId="0"/>
      <p:bldP spid="37942" grpId="0"/>
      <p:bldP spid="37944" grpId="0"/>
      <p:bldP spid="37945" grpId="0"/>
      <p:bldP spid="37946" grpId="0"/>
      <p:bldP spid="379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F6A9B282-0094-11E8-1BA4-3485B3B2E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6781800" cy="1446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非暴力沟通 的目标是：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en-US" sz="1600"/>
              <a:t>- 除了战略和评估之外，还要聆听下面的 需要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en-US" sz="1600"/>
              <a:t>- 与相关人员的需要交谈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en-US" sz="1600"/>
              <a:t>- 创建满足每个人的 需要 的策略（不妥协）</a:t>
            </a:r>
            <a:endParaRPr lang="en-US" altLang="en-US"/>
          </a:p>
        </p:txBody>
      </p:sp>
      <p:sp>
        <p:nvSpPr>
          <p:cNvPr id="9219" name="Oval 3">
            <a:extLst>
              <a:ext uri="{FF2B5EF4-FFF2-40B4-BE49-F238E27FC236}">
                <a16:creationId xmlns:a16="http://schemas.microsoft.com/office/drawing/2014/main" id="{4AE68409-71E7-F9BA-108F-B066A7114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3873500"/>
            <a:ext cx="936625" cy="890588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20" name="Oval 4">
            <a:extLst>
              <a:ext uri="{FF2B5EF4-FFF2-40B4-BE49-F238E27FC236}">
                <a16:creationId xmlns:a16="http://schemas.microsoft.com/office/drawing/2014/main" id="{931538D7-0138-70E4-4A9F-991A825AD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429000"/>
            <a:ext cx="1852613" cy="164941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21" name="Oval 5">
            <a:extLst>
              <a:ext uri="{FF2B5EF4-FFF2-40B4-BE49-F238E27FC236}">
                <a16:creationId xmlns:a16="http://schemas.microsoft.com/office/drawing/2014/main" id="{2E4B4CC3-05ED-AB25-2414-D6B136BE8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971800"/>
            <a:ext cx="2838450" cy="2689225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586A0C64-999A-2E98-FA84-DF733917D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038600"/>
            <a:ext cx="83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rgbClr val="0000FF"/>
                </a:solidFill>
              </a:rPr>
              <a:t>需要</a:t>
            </a:r>
            <a:endParaRPr lang="en-US" altLang="en-US" sz="1400"/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9474415C-94D2-6E6A-4EEE-8782A0BB9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581400"/>
            <a:ext cx="1041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chemeClr val="hlink"/>
                </a:solidFill>
              </a:rPr>
              <a:t>感受</a:t>
            </a:r>
            <a:endParaRPr lang="en-US" altLang="en-US" sz="1400"/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A55C3715-B82F-81C5-3AD2-FA11B79E2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24200"/>
            <a:ext cx="11445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rgbClr val="FF8000"/>
                </a:solidFill>
              </a:rPr>
              <a:t>策略</a:t>
            </a:r>
            <a:endParaRPr lang="en-US" altLang="en-US"/>
          </a:p>
        </p:txBody>
      </p:sp>
      <p:sp>
        <p:nvSpPr>
          <p:cNvPr id="9225" name="Oval 9">
            <a:extLst>
              <a:ext uri="{FF2B5EF4-FFF2-40B4-BE49-F238E27FC236}">
                <a16:creationId xmlns:a16="http://schemas.microsoft.com/office/drawing/2014/main" id="{4C8D50E5-CF1A-3A22-DD43-FC821FF07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514600"/>
            <a:ext cx="3962400" cy="3733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701B62EB-3B70-C5DC-F239-034CCB200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667000"/>
            <a:ext cx="1354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solidFill>
                  <a:srgbClr val="FF0000"/>
                </a:solidFill>
              </a:rPr>
              <a:t>评价</a:t>
            </a:r>
            <a:endParaRPr lang="en-US" altLang="en-US"/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6B3E6A75-673E-3F66-318D-6BED6AEA5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5576888"/>
            <a:ext cx="1319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9228" name="Picture 12" descr="dart">
            <a:extLst>
              <a:ext uri="{FF2B5EF4-FFF2-40B4-BE49-F238E27FC236}">
                <a16:creationId xmlns:a16="http://schemas.microsoft.com/office/drawing/2014/main" id="{543AFBDF-4EAC-E478-63EF-863AA40FB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67929">
            <a:off x="5638800" y="2209800"/>
            <a:ext cx="13446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13" descr="dart">
            <a:extLst>
              <a:ext uri="{FF2B5EF4-FFF2-40B4-BE49-F238E27FC236}">
                <a16:creationId xmlns:a16="http://schemas.microsoft.com/office/drawing/2014/main" id="{5E1C4A5F-4008-19C3-A4D4-10438BC1A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0"/>
            <a:ext cx="13446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0" name="Line 14">
            <a:extLst>
              <a:ext uri="{FF2B5EF4-FFF2-40B4-BE49-F238E27FC236}">
                <a16:creationId xmlns:a16="http://schemas.microsoft.com/office/drawing/2014/main" id="{50A1242A-8204-3E79-B095-B25C9CD358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2971800"/>
            <a:ext cx="182880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Line 15">
            <a:extLst>
              <a:ext uri="{FF2B5EF4-FFF2-40B4-BE49-F238E27FC236}">
                <a16:creationId xmlns:a16="http://schemas.microsoft.com/office/drawing/2014/main" id="{495CAD3E-BFAA-46E8-3D03-3124B8E026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3048000"/>
            <a:ext cx="2971800" cy="137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232" name="Picture 16" descr="dart">
            <a:extLst>
              <a:ext uri="{FF2B5EF4-FFF2-40B4-BE49-F238E27FC236}">
                <a16:creationId xmlns:a16="http://schemas.microsoft.com/office/drawing/2014/main" id="{091109B5-0987-0CBB-09FD-EC7F8AA38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600200"/>
            <a:ext cx="13446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3" name="Line 17">
            <a:extLst>
              <a:ext uri="{FF2B5EF4-FFF2-40B4-BE49-F238E27FC236}">
                <a16:creationId xmlns:a16="http://schemas.microsoft.com/office/drawing/2014/main" id="{4ED29F3B-F957-D6C9-88EE-7D4DC26707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362200"/>
            <a:ext cx="3733800" cy="2057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Feelings_Needs">
            <a:extLst>
              <a:ext uri="{FF2B5EF4-FFF2-40B4-BE49-F238E27FC236}">
                <a16:creationId xmlns:a16="http://schemas.microsoft.com/office/drawing/2014/main" id="{36AEF1C3-5E14-A474-5ABC-5AA6036A4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6251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3" name="Line 5">
            <a:extLst>
              <a:ext uri="{FF2B5EF4-FFF2-40B4-BE49-F238E27FC236}">
                <a16:creationId xmlns:a16="http://schemas.microsoft.com/office/drawing/2014/main" id="{A240FE46-8945-CB40-3DD2-E2F411955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D577658-F61A-6A5E-5263-894481078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533400"/>
          </a:xfrm>
        </p:spPr>
        <p:txBody>
          <a:bodyPr/>
          <a:lstStyle/>
          <a:p>
            <a:pPr eaLnBrk="1" hangingPunct="1"/>
            <a:r>
              <a:rPr lang="en-US" altLang="en-US" sz="3600"/>
              <a:t>NVC（非暴力沟通） 亲密沟通改造</a:t>
            </a:r>
            <a:endParaRPr lang="en-US" altLang="en-US"/>
          </a:p>
        </p:txBody>
      </p:sp>
      <p:sp>
        <p:nvSpPr>
          <p:cNvPr id="80910" name="AutoShape 14">
            <a:extLst>
              <a:ext uri="{FF2B5EF4-FFF2-40B4-BE49-F238E27FC236}">
                <a16:creationId xmlns:a16="http://schemas.microsoft.com/office/drawing/2014/main" id="{69B1A27F-976E-B472-3FBA-418642008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4038600" cy="4572000"/>
          </a:xfrm>
          <a:prstGeom prst="rightArrowCallout">
            <a:avLst>
              <a:gd name="adj1" fmla="val 28302"/>
              <a:gd name="adj2" fmla="val 28302"/>
              <a:gd name="adj3" fmla="val 16667"/>
              <a:gd name="adj4" fmla="val 66667"/>
            </a:avLst>
          </a:prstGeom>
          <a:solidFill>
            <a:srgbClr val="FF8000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评价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批评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评判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自我指责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内疚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羞耻感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要求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强迫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威胁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  <p:sp>
        <p:nvSpPr>
          <p:cNvPr id="80911" name="AutoShape 15">
            <a:extLst>
              <a:ext uri="{FF2B5EF4-FFF2-40B4-BE49-F238E27FC236}">
                <a16:creationId xmlns:a16="http://schemas.microsoft.com/office/drawing/2014/main" id="{56AA9589-60F5-8D91-52E2-725F6EAE0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19200"/>
            <a:ext cx="4343400" cy="4953000"/>
          </a:xfrm>
          <a:prstGeom prst="octagon">
            <a:avLst>
              <a:gd name="adj" fmla="val 29287"/>
            </a:avLst>
          </a:prstGeom>
          <a:solidFill>
            <a:schemeClr val="hlink">
              <a:alpha val="6117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/>
              <a:t>观察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基于 需要 的 同理心</a:t>
            </a:r>
          </a:p>
          <a:p>
            <a:pPr algn="ctr"/>
            <a:r>
              <a:rPr lang="en-US" altLang="en-US"/>
              <a:t>需要基于诚实</a:t>
            </a:r>
          </a:p>
          <a:p>
            <a:pPr algn="ctr"/>
            <a:r>
              <a:rPr lang="en-US" altLang="en-US"/>
              <a:t>基于需要的自我反思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遗憾、哀悼</a:t>
            </a:r>
          </a:p>
          <a:p>
            <a:pPr algn="ctr"/>
            <a:r>
              <a:rPr lang="en-US" altLang="en-US"/>
              <a:t>自我接纳</a:t>
            </a:r>
          </a:p>
          <a:p>
            <a:pPr algn="ctr"/>
            <a:endParaRPr lang="en-US" altLang="en-US"/>
          </a:p>
          <a:p>
            <a:pPr algn="ctr"/>
            <a:r>
              <a:rPr lang="en-US" altLang="en-US"/>
              <a:t>基于 需要 请求</a:t>
            </a:r>
          </a:p>
          <a:p>
            <a:pPr algn="ctr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10" grpId="0" animBg="1"/>
      <p:bldP spid="809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B484B3EA-F8F7-D278-0FBF-8E736B540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1450"/>
            <a:ext cx="8610600" cy="6862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28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600" b="1" dirty="0"/>
              <a:t>NVC（非暴力沟通） 改造组件（一些定义）</a:t>
            </a:r>
            <a:endParaRPr lang="en-US" altLang="en-US" sz="1600" dirty="0"/>
          </a:p>
          <a:p>
            <a:pPr>
              <a:spcBef>
                <a:spcPct val="50000"/>
              </a:spcBef>
              <a:defRPr/>
            </a:pPr>
            <a:endParaRPr lang="en-US" altLang="en-US" sz="1600" dirty="0"/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b="1" dirty="0"/>
              <a:t>观察：</a:t>
            </a:r>
            <a:r>
              <a:rPr lang="en-US" altLang="en-US" sz="1600" dirty="0"/>
              <a:t>描述没有评价词的行为或事件，就像摄像机所显示的那样。</a:t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dirty="0"/>
              <a:t>E：“</a:t>
            </a:r>
            <a:r>
              <a:rPr lang="en-US" altLang="en-US" sz="1600" dirty="0">
                <a:solidFill>
                  <a:schemeClr val="hlink"/>
                </a:solidFill>
              </a:rPr>
              <a:t>我注意到你的车在车道中间”</a:t>
            </a:r>
            <a:endParaRPr lang="en-US" altLang="en-US" sz="1600" dirty="0"/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b="1" dirty="0"/>
              <a:t>需要 基于 同</a:t>
            </a:r>
            <a:r>
              <a:rPr lang="en-US" altLang="en-US" sz="1600" dirty="0"/>
              <a:t>理心：与他人的 需要 连接并与之同在（他们的希望、想要的东西，对他们来说可能很重要）。</a:t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dirty="0"/>
              <a:t>E：“你</a:t>
            </a:r>
            <a:r>
              <a:rPr lang="en-US" altLang="en-US" sz="1600" dirty="0">
                <a:solidFill>
                  <a:schemeClr val="accent1">
                    <a:lumMod val="50000"/>
                  </a:schemeClr>
                </a:solidFill>
              </a:rPr>
              <a:t>是否希望通过不用处理灌木丛来让你的生活变得更轻松一些？”</a:t>
            </a:r>
            <a:r>
              <a:rPr lang="en-US" altLang="en-US" sz="1600" b="1" dirty="0">
                <a:solidFill>
                  <a:schemeClr val="accent1">
                    <a:lumMod val="50000"/>
                  </a:schemeClr>
                </a:solidFill>
              </a:rPr>
              <a:t/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b="1" dirty="0">
                <a:solidFill>
                  <a:schemeClr val="accent1">
                    <a:lumMod val="50000"/>
                  </a:schemeClr>
                </a:solidFill>
              </a:rPr>
              <a:t/>
            </a:r>
            <a:r>
              <a:rPr lang="en-US" altLang="en-US" sz="1600" dirty="0"/>
              <a:t>M</a:t>
            </a:r>
            <a:r>
              <a:rPr lang="en-US" altLang="en-US" sz="1600" dirty="0">
                <a:solidFill>
                  <a:schemeClr val="accent1">
                    <a:lumMod val="50000"/>
                  </a:schemeClr>
                </a:solidFill>
              </a:rPr>
              <a:t>：“你感受感到沮丧吗，因为我们上次讨论过这个问题，而且又发生了？”</a:t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b="1" dirty="0"/>
              <a:t>需要 基于诚实：</a:t>
            </a:r>
            <a:r>
              <a:rPr lang="en-US" altLang="en-US" sz="1600" dirty="0"/>
              <a:t>在没有 指责 或期望的情况下分享你自己的 需要 - 当对方真正准备好倾听你的声音时。</a:t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dirty="0">
                <a:solidFill>
                  <a:schemeClr val="hlink"/>
                </a:solidFill>
              </a:rPr>
              <a:t>E：</a:t>
            </a:r>
            <a:r>
              <a:rPr lang="en-US" altLang="en-US" sz="1600" dirty="0"/>
              <a:t>“</a:t>
            </a:r>
            <a:r>
              <a:rPr lang="en-US" altLang="en-US" sz="1600" dirty="0">
                <a:solidFill>
                  <a:schemeClr val="hlink"/>
                </a:solidFill>
              </a:rPr>
              <a:t>对我来说重要的是，我可以信赖你遵守协议，这样我就可以信任你并依靠你。”</a:t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b="1" dirty="0"/>
              <a:t>基于需要的自我反思：</a:t>
            </a:r>
            <a:r>
              <a:rPr lang="en-US" altLang="en-US" sz="1600" dirty="0"/>
              <a:t>与你的直接事物以及“更大的”需要（希望、想要的、对你来说重要的东西）联系并存在。</a:t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dirty="0"/>
              <a:t>M[内部对话]：我感</a:t>
            </a:r>
            <a:r>
              <a:rPr lang="en-US" altLang="en-US" sz="1600" dirty="0">
                <a:solidFill>
                  <a:schemeClr val="hlink"/>
                </a:solidFill>
              </a:rPr>
              <a:t>受很恼火，因为我希望我们之间的信任足够强大，能够抵御小失败，从而坚持到底。</a:t>
            </a:r>
            <a:endParaRPr lang="en-US" altLang="en-US" sz="1600" dirty="0"/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b="1" dirty="0"/>
              <a:t>基于需要的请</a:t>
            </a:r>
            <a:r>
              <a:rPr lang="en-US" altLang="en-US" sz="1600" dirty="0"/>
              <a:t>求：关于有助于满足您的需要（不同于要求）的策略的清晰沟通</a:t>
            </a:r>
          </a:p>
          <a:p>
            <a:pPr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en-US" sz="1600" dirty="0"/>
              <a:t>请求</a:t>
            </a:r>
            <a:r>
              <a:rPr lang="en-US" altLang="en-US" sz="1600" dirty="0">
                <a:solidFill>
                  <a:schemeClr val="hlink"/>
                </a:solidFill>
              </a:rPr>
              <a:t> 可能是什么样子？</a:t>
            </a:r>
            <a:endParaRPr lang="en-US" altLang="en-US" sz="1600" dirty="0"/>
          </a:p>
          <a:p>
            <a:pPr lvl="1">
              <a:spcBef>
                <a:spcPct val="50000"/>
              </a:spcBef>
              <a:buFont typeface="Arial" charset="0"/>
              <a:buNone/>
              <a:defRPr/>
            </a:pPr>
            <a:endParaRPr lang="en-US" altLang="en-US" sz="16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4354BFD-254F-7513-8715-314F18F26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447800"/>
            <a:ext cx="7772400" cy="2362200"/>
          </a:xfrm>
        </p:spPr>
        <p:txBody>
          <a:bodyPr/>
          <a:lstStyle/>
          <a:p>
            <a:pPr eaLnBrk="1" hangingPunct="1"/>
            <a:r>
              <a:rPr lang="en-US" altLang="en-US">
                <a:hlinkClick r:id="rId3"/>
              </a:rPr>
              <a:t>罗森伯格课堂演示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中的角色扮演？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A33A9FB-09FC-FBFE-323C-F5AE9E52C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en-US"/>
              <a:t>更多资源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F5FEDBF-B454-1719-C008-99CD530B3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/>
              <a:t>非暴力沟通中心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hlinkClick r:id="rId3"/>
              </a:rPr>
              <a:t>www.c</a:t>
            </a:r>
            <a:r>
              <a:rPr lang="en-US" altLang="en-US" sz="2800"/>
              <a:t/>
            </a:r>
            <a:r>
              <a:rPr lang="en-US" altLang="en-US" sz="2000"/>
              <a:t>nvc.org（包括研讨会日程、培训师信息以及完整的书籍和视频列表）</a:t>
            </a:r>
            <a:endParaRPr lang="en-US" altLang="en-US" sz="2800"/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>
              <a:buFontTx/>
              <a:buNone/>
            </a:pPr>
            <a:r>
              <a:rPr lang="en-US" altLang="en-US" sz="2000"/>
              <a:t>冲突热线（与NVC（非暴力沟通）教练进行现场角色扮演）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hlinkClick r:id="rId4"/>
              </a:rPr>
              <a:t>www.yout</a:t>
            </a:r>
            <a:r>
              <a:rPr lang="en-US" altLang="en-US" sz="2000"/>
              <a:t>ube.com（输入“冲突热线”）</a:t>
            </a:r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>
              <a:buFontTx/>
              <a:buNone/>
            </a:pPr>
            <a:r>
              <a:rPr lang="en-US" altLang="en-US" sz="2000"/>
              <a:t>NVC（非暴力沟通） 学院（远程课程、音频课程和免费材料）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hlinkClick r:id="rId5"/>
              </a:rPr>
              <a:t>www.nvctraining.com</a:t>
            </a:r>
            <a:endParaRPr lang="en-US" altLang="en-US" sz="2000"/>
          </a:p>
          <a:p>
            <a:pPr eaLnBrk="1" hangingPunct="1"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2004:Templates:Presentations:Designs:Blank Presentation</Template>
  <TotalTime>0</TotalTime>
  <Words>723</Words>
  <Application>Microsoft Office PowerPoint</Application>
  <PresentationFormat>On-screen Show (4:3)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ＭＳ Ｐゴシック</vt:lpstr>
      <vt:lpstr>Blank Presentation</vt:lpstr>
      <vt:lpstr>Non Violent Communication in Intimate Relationships: An Introduction</vt:lpstr>
      <vt:lpstr>PowerPoint Presentation</vt:lpstr>
      <vt:lpstr>PowerPoint Presentation</vt:lpstr>
      <vt:lpstr>Imagine if…</vt:lpstr>
      <vt:lpstr>Imagine if…</vt:lpstr>
      <vt:lpstr>PowerPoint Presentation</vt:lpstr>
      <vt:lpstr>PowerPoint Presentation</vt:lpstr>
      <vt:lpstr>PowerPoint Presentation</vt:lpstr>
      <vt:lpstr>PowerPoint Presentation</vt:lpstr>
      <vt:lpstr>NVC Intimate Communication Makeover</vt:lpstr>
      <vt:lpstr>PowerPoint Presentation</vt:lpstr>
      <vt:lpstr>Role play with Rosenberg  Class Demonstration?</vt:lpstr>
      <vt:lpstr>Further Resources</vt:lpstr>
    </vt:vector>
  </TitlesOfParts>
  <Company>UIUC Dept. of Psychology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Elaine Shpungin</dc:creator>
  <cp:lastModifiedBy>Weichen Gu</cp:lastModifiedBy>
  <cp:revision>188</cp:revision>
  <dcterms:created xsi:type="dcterms:W3CDTF">2009-10-26T17:11:46Z</dcterms:created>
  <dcterms:modified xsi:type="dcterms:W3CDTF">2026-03-01T03:03:01Z</dcterms:modified>
</cp:coreProperties>
</file>